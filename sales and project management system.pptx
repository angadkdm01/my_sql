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sldIdLst>
    <p:sldId id="256" r:id="rId2"/>
    <p:sldId id="284" r:id="rId3"/>
    <p:sldId id="285" r:id="rId4"/>
    <p:sldId id="264" r:id="rId5"/>
    <p:sldId id="281" r:id="rId6"/>
    <p:sldId id="265" r:id="rId7"/>
    <p:sldId id="266" r:id="rId8"/>
    <p:sldId id="267" r:id="rId9"/>
    <p:sldId id="268" r:id="rId10"/>
    <p:sldId id="271" r:id="rId11"/>
    <p:sldId id="272" r:id="rId12"/>
    <p:sldId id="273" r:id="rId13"/>
    <p:sldId id="274" r:id="rId14"/>
    <p:sldId id="275" r:id="rId15"/>
    <p:sldId id="277" r:id="rId16"/>
    <p:sldId id="262" r:id="rId17"/>
    <p:sldId id="279" r:id="rId18"/>
    <p:sldId id="286" r:id="rId19"/>
    <p:sldId id="28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2727CA-3F2E-402E-A294-9336CECE0780}"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9501379-30B5-463B-8AE2-C55DB3668FEF}">
      <dgm:prSet custT="1"/>
      <dgm:spPr/>
      <dgm:t>
        <a:bodyPr/>
        <a:lstStyle/>
        <a:p>
          <a:pPr>
            <a:lnSpc>
              <a:spcPct val="100000"/>
            </a:lnSpc>
          </a:pPr>
          <a:r>
            <a:rPr lang="en-US" sz="2000" b="0" i="0" dirty="0">
              <a:latin typeface="__Inter_d65c78"/>
            </a:rPr>
            <a:t>To create a structured database for managing sales data.</a:t>
          </a:r>
          <a:endParaRPr lang="en-US" sz="2000" dirty="0">
            <a:latin typeface="__Inter_d65c78"/>
          </a:endParaRPr>
        </a:p>
      </dgm:t>
    </dgm:pt>
    <dgm:pt modelId="{4B6091BB-5A48-4849-92A4-7945EA24067E}" type="parTrans" cxnId="{19DFB9D5-6EE5-43BD-A05F-5148131B7095}">
      <dgm:prSet/>
      <dgm:spPr/>
      <dgm:t>
        <a:bodyPr/>
        <a:lstStyle/>
        <a:p>
          <a:endParaRPr lang="en-US"/>
        </a:p>
      </dgm:t>
    </dgm:pt>
    <dgm:pt modelId="{73F085D9-1D8F-497B-BE9B-209670133CF1}" type="sibTrans" cxnId="{19DFB9D5-6EE5-43BD-A05F-5148131B7095}">
      <dgm:prSet/>
      <dgm:spPr/>
      <dgm:t>
        <a:bodyPr/>
        <a:lstStyle/>
        <a:p>
          <a:endParaRPr lang="en-US"/>
        </a:p>
      </dgm:t>
    </dgm:pt>
    <dgm:pt modelId="{6B6EC293-D6DA-4088-9999-22D21B6D12D5}">
      <dgm:prSet custT="1"/>
      <dgm:spPr/>
      <dgm:t>
        <a:bodyPr/>
        <a:lstStyle/>
        <a:p>
          <a:pPr>
            <a:lnSpc>
              <a:spcPct val="100000"/>
            </a:lnSpc>
          </a:pPr>
          <a:r>
            <a:rPr lang="en-US" sz="2000" b="0" i="0" dirty="0">
              <a:latin typeface="__Inter_d65c78"/>
            </a:rPr>
            <a:t>To ensure data integrity and prevent duplication.</a:t>
          </a:r>
          <a:endParaRPr lang="en-US" sz="2000" dirty="0">
            <a:latin typeface="__Inter_d65c78"/>
          </a:endParaRPr>
        </a:p>
      </dgm:t>
    </dgm:pt>
    <dgm:pt modelId="{3E545D72-0DD4-44DB-B3A1-1DE09EF023E7}" type="parTrans" cxnId="{9DEA773E-B36B-45FF-81E1-FE7DC55FB1CC}">
      <dgm:prSet/>
      <dgm:spPr/>
      <dgm:t>
        <a:bodyPr/>
        <a:lstStyle/>
        <a:p>
          <a:endParaRPr lang="en-US"/>
        </a:p>
      </dgm:t>
    </dgm:pt>
    <dgm:pt modelId="{63485E3B-29A6-4910-BD89-24953358B901}" type="sibTrans" cxnId="{9DEA773E-B36B-45FF-81E1-FE7DC55FB1CC}">
      <dgm:prSet/>
      <dgm:spPr/>
      <dgm:t>
        <a:bodyPr/>
        <a:lstStyle/>
        <a:p>
          <a:endParaRPr lang="en-US"/>
        </a:p>
      </dgm:t>
    </dgm:pt>
    <dgm:pt modelId="{819364EA-18E5-42A7-938C-FB1B101CDF10}">
      <dgm:prSet custT="1"/>
      <dgm:spPr/>
      <dgm:t>
        <a:bodyPr/>
        <a:lstStyle/>
        <a:p>
          <a:pPr>
            <a:lnSpc>
              <a:spcPct val="100000"/>
            </a:lnSpc>
          </a:pPr>
          <a:r>
            <a:rPr lang="en-US" sz="2000" b="0" i="0" dirty="0">
              <a:latin typeface="__Inter_d65c78"/>
            </a:rPr>
            <a:t>To facilitate easy access to sales and product information for analysis.</a:t>
          </a:r>
          <a:endParaRPr lang="en-US" sz="2000" dirty="0">
            <a:latin typeface="__Inter_d65c78"/>
          </a:endParaRPr>
        </a:p>
      </dgm:t>
    </dgm:pt>
    <dgm:pt modelId="{BA3A1C68-4CA0-42A8-8350-6414F37FF21F}" type="parTrans" cxnId="{F9C41E9B-8EE0-490B-A11F-5844AA0F2522}">
      <dgm:prSet/>
      <dgm:spPr/>
      <dgm:t>
        <a:bodyPr/>
        <a:lstStyle/>
        <a:p>
          <a:endParaRPr lang="en-US"/>
        </a:p>
      </dgm:t>
    </dgm:pt>
    <dgm:pt modelId="{A05F567A-E8C0-46D8-895F-8B4A32BE8B0A}" type="sibTrans" cxnId="{F9C41E9B-8EE0-490B-A11F-5844AA0F2522}">
      <dgm:prSet/>
      <dgm:spPr/>
      <dgm:t>
        <a:bodyPr/>
        <a:lstStyle/>
        <a:p>
          <a:endParaRPr lang="en-US"/>
        </a:p>
      </dgm:t>
    </dgm:pt>
    <dgm:pt modelId="{8E035C36-D754-49EF-BE79-4A405349B542}" type="pres">
      <dgm:prSet presAssocID="{CC2727CA-3F2E-402E-A294-9336CECE0780}" presName="root" presStyleCnt="0">
        <dgm:presLayoutVars>
          <dgm:dir/>
          <dgm:resizeHandles val="exact"/>
        </dgm:presLayoutVars>
      </dgm:prSet>
      <dgm:spPr/>
    </dgm:pt>
    <dgm:pt modelId="{3B177D97-9867-4507-B977-F7701E14E8FE}" type="pres">
      <dgm:prSet presAssocID="{E9501379-30B5-463B-8AE2-C55DB3668FEF}" presName="compNode" presStyleCnt="0"/>
      <dgm:spPr/>
    </dgm:pt>
    <dgm:pt modelId="{38A52971-DE14-4B1B-9FC0-A591DD94DA53}" type="pres">
      <dgm:prSet presAssocID="{E9501379-30B5-463B-8AE2-C55DB3668FE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8186EEDE-8CC7-4C5A-B722-A4F94977CA70}" type="pres">
      <dgm:prSet presAssocID="{E9501379-30B5-463B-8AE2-C55DB3668FEF}" presName="spaceRect" presStyleCnt="0"/>
      <dgm:spPr/>
    </dgm:pt>
    <dgm:pt modelId="{7161C82F-46DC-4813-B75F-59F36C6FA3FD}" type="pres">
      <dgm:prSet presAssocID="{E9501379-30B5-463B-8AE2-C55DB3668FEF}" presName="textRect" presStyleLbl="revTx" presStyleIdx="0" presStyleCnt="3" custScaleX="148646">
        <dgm:presLayoutVars>
          <dgm:chMax val="1"/>
          <dgm:chPref val="1"/>
        </dgm:presLayoutVars>
      </dgm:prSet>
      <dgm:spPr/>
    </dgm:pt>
    <dgm:pt modelId="{657DF437-ED47-44AE-8031-7DB418C5C2DE}" type="pres">
      <dgm:prSet presAssocID="{73F085D9-1D8F-497B-BE9B-209670133CF1}" presName="sibTrans" presStyleCnt="0"/>
      <dgm:spPr/>
    </dgm:pt>
    <dgm:pt modelId="{7E25A23B-60F6-41EC-A5AA-F328019FB5F4}" type="pres">
      <dgm:prSet presAssocID="{6B6EC293-D6DA-4088-9999-22D21B6D12D5}" presName="compNode" presStyleCnt="0"/>
      <dgm:spPr/>
    </dgm:pt>
    <dgm:pt modelId="{E6B5D316-9366-451D-9331-ACAEB6250B1C}" type="pres">
      <dgm:prSet presAssocID="{6B6EC293-D6DA-4088-9999-22D21B6D12D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hredder"/>
        </a:ext>
      </dgm:extLst>
    </dgm:pt>
    <dgm:pt modelId="{62A779BE-ED5E-47E3-9C9B-16A61815D33A}" type="pres">
      <dgm:prSet presAssocID="{6B6EC293-D6DA-4088-9999-22D21B6D12D5}" presName="spaceRect" presStyleCnt="0"/>
      <dgm:spPr/>
    </dgm:pt>
    <dgm:pt modelId="{773AD5C0-D68D-49D6-99F0-04A1EDFE9B14}" type="pres">
      <dgm:prSet presAssocID="{6B6EC293-D6DA-4088-9999-22D21B6D12D5}" presName="textRect" presStyleLbl="revTx" presStyleIdx="1" presStyleCnt="3" custScaleX="153753">
        <dgm:presLayoutVars>
          <dgm:chMax val="1"/>
          <dgm:chPref val="1"/>
        </dgm:presLayoutVars>
      </dgm:prSet>
      <dgm:spPr/>
    </dgm:pt>
    <dgm:pt modelId="{F2724ECA-9CA3-46BC-B8C9-12B71C2B70A3}" type="pres">
      <dgm:prSet presAssocID="{63485E3B-29A6-4910-BD89-24953358B901}" presName="sibTrans" presStyleCnt="0"/>
      <dgm:spPr/>
    </dgm:pt>
    <dgm:pt modelId="{5B59F13C-B4AF-455D-8D73-BA63C7D8138C}" type="pres">
      <dgm:prSet presAssocID="{819364EA-18E5-42A7-938C-FB1B101CDF10}" presName="compNode" presStyleCnt="0"/>
      <dgm:spPr/>
    </dgm:pt>
    <dgm:pt modelId="{A82401FB-BB5C-4027-985C-A4B50E8AF096}" type="pres">
      <dgm:prSet presAssocID="{819364EA-18E5-42A7-938C-FB1B101CDF1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C7344F82-40D7-4F98-8BE4-0C27E8CAD683}" type="pres">
      <dgm:prSet presAssocID="{819364EA-18E5-42A7-938C-FB1B101CDF10}" presName="spaceRect" presStyleCnt="0"/>
      <dgm:spPr/>
    </dgm:pt>
    <dgm:pt modelId="{C9C79BE0-610E-43E1-AD75-4B3C147BDAE3}" type="pres">
      <dgm:prSet presAssocID="{819364EA-18E5-42A7-938C-FB1B101CDF10}" presName="textRect" presStyleLbl="revTx" presStyleIdx="2" presStyleCnt="3" custScaleX="169600">
        <dgm:presLayoutVars>
          <dgm:chMax val="1"/>
          <dgm:chPref val="1"/>
        </dgm:presLayoutVars>
      </dgm:prSet>
      <dgm:spPr/>
    </dgm:pt>
  </dgm:ptLst>
  <dgm:cxnLst>
    <dgm:cxn modelId="{DB798E17-ACD5-4948-82C7-178E8B85BC0A}" type="presOf" srcId="{CC2727CA-3F2E-402E-A294-9336CECE0780}" destId="{8E035C36-D754-49EF-BE79-4A405349B542}" srcOrd="0" destOrd="0" presId="urn:microsoft.com/office/officeart/2018/2/layout/IconLabelList"/>
    <dgm:cxn modelId="{9DEA773E-B36B-45FF-81E1-FE7DC55FB1CC}" srcId="{CC2727CA-3F2E-402E-A294-9336CECE0780}" destId="{6B6EC293-D6DA-4088-9999-22D21B6D12D5}" srcOrd="1" destOrd="0" parTransId="{3E545D72-0DD4-44DB-B3A1-1DE09EF023E7}" sibTransId="{63485E3B-29A6-4910-BD89-24953358B901}"/>
    <dgm:cxn modelId="{B56A9172-A441-463E-9106-3108E44368BB}" type="presOf" srcId="{6B6EC293-D6DA-4088-9999-22D21B6D12D5}" destId="{773AD5C0-D68D-49D6-99F0-04A1EDFE9B14}" srcOrd="0" destOrd="0" presId="urn:microsoft.com/office/officeart/2018/2/layout/IconLabelList"/>
    <dgm:cxn modelId="{94FC9D52-ABF6-4C7E-803A-8D4D2B061673}" type="presOf" srcId="{E9501379-30B5-463B-8AE2-C55DB3668FEF}" destId="{7161C82F-46DC-4813-B75F-59F36C6FA3FD}" srcOrd="0" destOrd="0" presId="urn:microsoft.com/office/officeart/2018/2/layout/IconLabelList"/>
    <dgm:cxn modelId="{F9C41E9B-8EE0-490B-A11F-5844AA0F2522}" srcId="{CC2727CA-3F2E-402E-A294-9336CECE0780}" destId="{819364EA-18E5-42A7-938C-FB1B101CDF10}" srcOrd="2" destOrd="0" parTransId="{BA3A1C68-4CA0-42A8-8350-6414F37FF21F}" sibTransId="{A05F567A-E8C0-46D8-895F-8B4A32BE8B0A}"/>
    <dgm:cxn modelId="{B8329DA0-D41F-4B13-8429-4D4E3FB5E799}" type="presOf" srcId="{819364EA-18E5-42A7-938C-FB1B101CDF10}" destId="{C9C79BE0-610E-43E1-AD75-4B3C147BDAE3}" srcOrd="0" destOrd="0" presId="urn:microsoft.com/office/officeart/2018/2/layout/IconLabelList"/>
    <dgm:cxn modelId="{19DFB9D5-6EE5-43BD-A05F-5148131B7095}" srcId="{CC2727CA-3F2E-402E-A294-9336CECE0780}" destId="{E9501379-30B5-463B-8AE2-C55DB3668FEF}" srcOrd="0" destOrd="0" parTransId="{4B6091BB-5A48-4849-92A4-7945EA24067E}" sibTransId="{73F085D9-1D8F-497B-BE9B-209670133CF1}"/>
    <dgm:cxn modelId="{4A921110-5DCB-4897-87B9-B84B0AFC3D4C}" type="presParOf" srcId="{8E035C36-D754-49EF-BE79-4A405349B542}" destId="{3B177D97-9867-4507-B977-F7701E14E8FE}" srcOrd="0" destOrd="0" presId="urn:microsoft.com/office/officeart/2018/2/layout/IconLabelList"/>
    <dgm:cxn modelId="{B3D4E3E9-800D-43E2-A5F1-8C859571A241}" type="presParOf" srcId="{3B177D97-9867-4507-B977-F7701E14E8FE}" destId="{38A52971-DE14-4B1B-9FC0-A591DD94DA53}" srcOrd="0" destOrd="0" presId="urn:microsoft.com/office/officeart/2018/2/layout/IconLabelList"/>
    <dgm:cxn modelId="{D1DF330A-F27F-422C-BE0F-0DA657D32989}" type="presParOf" srcId="{3B177D97-9867-4507-B977-F7701E14E8FE}" destId="{8186EEDE-8CC7-4C5A-B722-A4F94977CA70}" srcOrd="1" destOrd="0" presId="urn:microsoft.com/office/officeart/2018/2/layout/IconLabelList"/>
    <dgm:cxn modelId="{F6B86972-5BBF-4CEF-A7B6-0DCCF58E68FF}" type="presParOf" srcId="{3B177D97-9867-4507-B977-F7701E14E8FE}" destId="{7161C82F-46DC-4813-B75F-59F36C6FA3FD}" srcOrd="2" destOrd="0" presId="urn:microsoft.com/office/officeart/2018/2/layout/IconLabelList"/>
    <dgm:cxn modelId="{5A7E7741-96D6-4518-9A35-FACB36798864}" type="presParOf" srcId="{8E035C36-D754-49EF-BE79-4A405349B542}" destId="{657DF437-ED47-44AE-8031-7DB418C5C2DE}" srcOrd="1" destOrd="0" presId="urn:microsoft.com/office/officeart/2018/2/layout/IconLabelList"/>
    <dgm:cxn modelId="{293D6831-7926-43AF-84BA-0BCC9F772FB1}" type="presParOf" srcId="{8E035C36-D754-49EF-BE79-4A405349B542}" destId="{7E25A23B-60F6-41EC-A5AA-F328019FB5F4}" srcOrd="2" destOrd="0" presId="urn:microsoft.com/office/officeart/2018/2/layout/IconLabelList"/>
    <dgm:cxn modelId="{2B596D88-329E-4DAC-8F4D-6F1AE5066C1D}" type="presParOf" srcId="{7E25A23B-60F6-41EC-A5AA-F328019FB5F4}" destId="{E6B5D316-9366-451D-9331-ACAEB6250B1C}" srcOrd="0" destOrd="0" presId="urn:microsoft.com/office/officeart/2018/2/layout/IconLabelList"/>
    <dgm:cxn modelId="{23C79480-F383-49C9-BFE1-F69B278B154D}" type="presParOf" srcId="{7E25A23B-60F6-41EC-A5AA-F328019FB5F4}" destId="{62A779BE-ED5E-47E3-9C9B-16A61815D33A}" srcOrd="1" destOrd="0" presId="urn:microsoft.com/office/officeart/2018/2/layout/IconLabelList"/>
    <dgm:cxn modelId="{C66F3719-A899-4049-8F81-97B1EEE42C05}" type="presParOf" srcId="{7E25A23B-60F6-41EC-A5AA-F328019FB5F4}" destId="{773AD5C0-D68D-49D6-99F0-04A1EDFE9B14}" srcOrd="2" destOrd="0" presId="urn:microsoft.com/office/officeart/2018/2/layout/IconLabelList"/>
    <dgm:cxn modelId="{50E74157-E33A-4AFD-977B-5FDA72FCDE25}" type="presParOf" srcId="{8E035C36-D754-49EF-BE79-4A405349B542}" destId="{F2724ECA-9CA3-46BC-B8C9-12B71C2B70A3}" srcOrd="3" destOrd="0" presId="urn:microsoft.com/office/officeart/2018/2/layout/IconLabelList"/>
    <dgm:cxn modelId="{D1BA4378-58E8-47C2-A462-037745E4592E}" type="presParOf" srcId="{8E035C36-D754-49EF-BE79-4A405349B542}" destId="{5B59F13C-B4AF-455D-8D73-BA63C7D8138C}" srcOrd="4" destOrd="0" presId="urn:microsoft.com/office/officeart/2018/2/layout/IconLabelList"/>
    <dgm:cxn modelId="{F0A81423-EECB-410F-8593-312DCB530378}" type="presParOf" srcId="{5B59F13C-B4AF-455D-8D73-BA63C7D8138C}" destId="{A82401FB-BB5C-4027-985C-A4B50E8AF096}" srcOrd="0" destOrd="0" presId="urn:microsoft.com/office/officeart/2018/2/layout/IconLabelList"/>
    <dgm:cxn modelId="{49BD1702-F777-4A90-8824-5C5B58223366}" type="presParOf" srcId="{5B59F13C-B4AF-455D-8D73-BA63C7D8138C}" destId="{C7344F82-40D7-4F98-8BE4-0C27E8CAD683}" srcOrd="1" destOrd="0" presId="urn:microsoft.com/office/officeart/2018/2/layout/IconLabelList"/>
    <dgm:cxn modelId="{8BF43833-DC9A-4CC6-A037-830D5A3B3B85}" type="presParOf" srcId="{5B59F13C-B4AF-455D-8D73-BA63C7D8138C}" destId="{C9C79BE0-610E-43E1-AD75-4B3C147BDAE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A52971-DE14-4B1B-9FC0-A591DD94DA53}">
      <dsp:nvSpPr>
        <dsp:cNvPr id="0" name=""/>
        <dsp:cNvSpPr/>
      </dsp:nvSpPr>
      <dsp:spPr>
        <a:xfrm>
          <a:off x="1567584" y="436785"/>
          <a:ext cx="948307" cy="9483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161C82F-46DC-4813-B75F-59F36C6FA3FD}">
      <dsp:nvSpPr>
        <dsp:cNvPr id="0" name=""/>
        <dsp:cNvSpPr/>
      </dsp:nvSpPr>
      <dsp:spPr>
        <a:xfrm>
          <a:off x="475491" y="1720339"/>
          <a:ext cx="3132492" cy="9506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0" i="0" kern="1200" dirty="0">
              <a:latin typeface="__Inter_d65c78"/>
            </a:rPr>
            <a:t>To create a structured database for managing sales data.</a:t>
          </a:r>
          <a:endParaRPr lang="en-US" sz="2000" kern="1200" dirty="0">
            <a:latin typeface="__Inter_d65c78"/>
          </a:endParaRPr>
        </a:p>
      </dsp:txBody>
      <dsp:txXfrm>
        <a:off x="475491" y="1720339"/>
        <a:ext cx="3132492" cy="950622"/>
      </dsp:txXfrm>
    </dsp:sp>
    <dsp:sp modelId="{E6B5D316-9366-451D-9331-ACAEB6250B1C}">
      <dsp:nvSpPr>
        <dsp:cNvPr id="0" name=""/>
        <dsp:cNvSpPr/>
      </dsp:nvSpPr>
      <dsp:spPr>
        <a:xfrm>
          <a:off x="5122674" y="436785"/>
          <a:ext cx="948307" cy="9483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73AD5C0-D68D-49D6-99F0-04A1EDFE9B14}">
      <dsp:nvSpPr>
        <dsp:cNvPr id="0" name=""/>
        <dsp:cNvSpPr/>
      </dsp:nvSpPr>
      <dsp:spPr>
        <a:xfrm>
          <a:off x="3976771" y="1720339"/>
          <a:ext cx="3240115" cy="9506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0" i="0" kern="1200" dirty="0">
              <a:latin typeface="__Inter_d65c78"/>
            </a:rPr>
            <a:t>To ensure data integrity and prevent duplication.</a:t>
          </a:r>
          <a:endParaRPr lang="en-US" sz="2000" kern="1200" dirty="0">
            <a:latin typeface="__Inter_d65c78"/>
          </a:endParaRPr>
        </a:p>
      </dsp:txBody>
      <dsp:txXfrm>
        <a:off x="3976771" y="1720339"/>
        <a:ext cx="3240115" cy="950622"/>
      </dsp:txXfrm>
    </dsp:sp>
    <dsp:sp modelId="{A82401FB-BB5C-4027-985C-A4B50E8AF096}">
      <dsp:nvSpPr>
        <dsp:cNvPr id="0" name=""/>
        <dsp:cNvSpPr/>
      </dsp:nvSpPr>
      <dsp:spPr>
        <a:xfrm>
          <a:off x="8898552" y="436785"/>
          <a:ext cx="948307" cy="94830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9C79BE0-610E-43E1-AD75-4B3C147BDAE3}">
      <dsp:nvSpPr>
        <dsp:cNvPr id="0" name=""/>
        <dsp:cNvSpPr/>
      </dsp:nvSpPr>
      <dsp:spPr>
        <a:xfrm>
          <a:off x="7585672" y="1720339"/>
          <a:ext cx="3574067" cy="9506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0" i="0" kern="1200" dirty="0">
              <a:latin typeface="__Inter_d65c78"/>
            </a:rPr>
            <a:t>To facilitate easy access to sales and product information for analysis.</a:t>
          </a:r>
          <a:endParaRPr lang="en-US" sz="2000" kern="1200" dirty="0">
            <a:latin typeface="__Inter_d65c78"/>
          </a:endParaRPr>
        </a:p>
      </dsp:txBody>
      <dsp:txXfrm>
        <a:off x="7585672" y="1720339"/>
        <a:ext cx="3574067" cy="95062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88560063-509F-4642-A07F-57A2D7C99390}" type="datetimeFigureOut">
              <a:rPr lang="en-IN" smtClean="0"/>
              <a:t>17-04-2025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BEF5A65-1D26-4C7F-B77A-8BFF38C82BC2}" type="slidenum">
              <a:rPr lang="en-IN" smtClean="0"/>
              <a:t>‹#›</a:t>
            </a:fld>
            <a:endParaRPr lang="en-IN"/>
          </a:p>
        </p:txBody>
      </p:sp>
    </p:spTree>
    <p:extLst>
      <p:ext uri="{BB962C8B-B14F-4D97-AF65-F5344CB8AC3E}">
        <p14:creationId xmlns:p14="http://schemas.microsoft.com/office/powerpoint/2010/main" val="17576492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560063-509F-4642-A07F-57A2D7C99390}" type="datetimeFigureOut">
              <a:rPr lang="en-IN" smtClean="0"/>
              <a:t>17-04-2025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BEF5A65-1D26-4C7F-B77A-8BFF38C82BC2}" type="slidenum">
              <a:rPr lang="en-IN" smtClean="0"/>
              <a:t>‹#›</a:t>
            </a:fld>
            <a:endParaRPr lang="en-IN"/>
          </a:p>
        </p:txBody>
      </p:sp>
    </p:spTree>
    <p:extLst>
      <p:ext uri="{BB962C8B-B14F-4D97-AF65-F5344CB8AC3E}">
        <p14:creationId xmlns:p14="http://schemas.microsoft.com/office/powerpoint/2010/main" val="4188573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88560063-509F-4642-A07F-57A2D7C99390}" type="datetimeFigureOut">
              <a:rPr lang="en-IN" smtClean="0"/>
              <a:t>17-04-2025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BEF5A65-1D26-4C7F-B77A-8BFF38C82BC2}" type="slidenum">
              <a:rPr lang="en-IN" smtClean="0"/>
              <a:t>‹#›</a:t>
            </a:fld>
            <a:endParaRPr lang="en-IN"/>
          </a:p>
        </p:txBody>
      </p:sp>
    </p:spTree>
    <p:extLst>
      <p:ext uri="{BB962C8B-B14F-4D97-AF65-F5344CB8AC3E}">
        <p14:creationId xmlns:p14="http://schemas.microsoft.com/office/powerpoint/2010/main" val="184661663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88560063-509F-4642-A07F-57A2D7C99390}" type="datetimeFigureOut">
              <a:rPr lang="en-IN" smtClean="0"/>
              <a:t>17-04-2025</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6BEF5A65-1D26-4C7F-B77A-8BFF38C82BC2}" type="slidenum">
              <a:rPr lang="en-IN" smtClean="0"/>
              <a:t>‹#›</a:t>
            </a:fld>
            <a:endParaRPr lang="en-IN"/>
          </a:p>
        </p:txBody>
      </p:sp>
    </p:spTree>
    <p:extLst>
      <p:ext uri="{BB962C8B-B14F-4D97-AF65-F5344CB8AC3E}">
        <p14:creationId xmlns:p14="http://schemas.microsoft.com/office/powerpoint/2010/main" val="2623839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88560063-509F-4642-A07F-57A2D7C99390}" type="datetimeFigureOut">
              <a:rPr lang="en-IN" smtClean="0"/>
              <a:t>17-04-2025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BEF5A65-1D26-4C7F-B77A-8BFF38C82BC2}"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605265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560063-509F-4642-A07F-57A2D7C99390}" type="datetimeFigureOut">
              <a:rPr lang="en-IN" smtClean="0"/>
              <a:t>17-04-2025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BEF5A65-1D26-4C7F-B77A-8BFF38C82BC2}" type="slidenum">
              <a:rPr lang="en-IN" smtClean="0"/>
              <a:t>‹#›</a:t>
            </a:fld>
            <a:endParaRPr lang="en-IN"/>
          </a:p>
        </p:txBody>
      </p:sp>
    </p:spTree>
    <p:extLst>
      <p:ext uri="{BB962C8B-B14F-4D97-AF65-F5344CB8AC3E}">
        <p14:creationId xmlns:p14="http://schemas.microsoft.com/office/powerpoint/2010/main" val="1292709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560063-509F-4642-A07F-57A2D7C99390}" type="datetimeFigureOut">
              <a:rPr lang="en-IN" smtClean="0"/>
              <a:t>17-04-2025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BEF5A65-1D26-4C7F-B77A-8BFF38C82BC2}" type="slidenum">
              <a:rPr lang="en-IN" smtClean="0"/>
              <a:t>‹#›</a:t>
            </a:fld>
            <a:endParaRPr lang="en-IN"/>
          </a:p>
        </p:txBody>
      </p:sp>
    </p:spTree>
    <p:extLst>
      <p:ext uri="{BB962C8B-B14F-4D97-AF65-F5344CB8AC3E}">
        <p14:creationId xmlns:p14="http://schemas.microsoft.com/office/powerpoint/2010/main" val="2033590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88560063-509F-4642-A07F-57A2D7C99390}" type="datetimeFigureOut">
              <a:rPr lang="en-IN" smtClean="0"/>
              <a:t>17-04-2025</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6BEF5A65-1D26-4C7F-B77A-8BFF38C82BC2}" type="slidenum">
              <a:rPr lang="en-IN" smtClean="0"/>
              <a:t>‹#›</a:t>
            </a:fld>
            <a:endParaRPr lang="en-IN"/>
          </a:p>
        </p:txBody>
      </p:sp>
    </p:spTree>
    <p:extLst>
      <p:ext uri="{BB962C8B-B14F-4D97-AF65-F5344CB8AC3E}">
        <p14:creationId xmlns:p14="http://schemas.microsoft.com/office/powerpoint/2010/main" val="1870659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88560063-509F-4642-A07F-57A2D7C99390}" type="datetimeFigureOut">
              <a:rPr lang="en-IN" smtClean="0"/>
              <a:t>17-04-2025</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6BEF5A65-1D26-4C7F-B77A-8BFF38C82BC2}" type="slidenum">
              <a:rPr lang="en-IN" smtClean="0"/>
              <a:t>‹#›</a:t>
            </a:fld>
            <a:endParaRPr lang="en-IN"/>
          </a:p>
        </p:txBody>
      </p:sp>
    </p:spTree>
    <p:extLst>
      <p:ext uri="{BB962C8B-B14F-4D97-AF65-F5344CB8AC3E}">
        <p14:creationId xmlns:p14="http://schemas.microsoft.com/office/powerpoint/2010/main" val="558728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560063-509F-4642-A07F-57A2D7C99390}" type="datetimeFigureOut">
              <a:rPr lang="en-IN" smtClean="0"/>
              <a:t>17-04-2025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EF5A65-1D26-4C7F-B77A-8BFF38C82BC2}" type="slidenum">
              <a:rPr lang="en-IN" smtClean="0"/>
              <a:t>‹#›</a:t>
            </a:fld>
            <a:endParaRPr lang="en-IN"/>
          </a:p>
        </p:txBody>
      </p:sp>
    </p:spTree>
    <p:extLst>
      <p:ext uri="{BB962C8B-B14F-4D97-AF65-F5344CB8AC3E}">
        <p14:creationId xmlns:p14="http://schemas.microsoft.com/office/powerpoint/2010/main" val="3377945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560063-509F-4642-A07F-57A2D7C99390}" type="datetimeFigureOut">
              <a:rPr lang="en-IN" smtClean="0"/>
              <a:t>17-04-2025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EF5A65-1D26-4C7F-B77A-8BFF38C82BC2}" type="slidenum">
              <a:rPr lang="en-IN" smtClean="0"/>
              <a:t>‹#›</a:t>
            </a:fld>
            <a:endParaRPr lang="en-IN"/>
          </a:p>
        </p:txBody>
      </p:sp>
    </p:spTree>
    <p:extLst>
      <p:ext uri="{BB962C8B-B14F-4D97-AF65-F5344CB8AC3E}">
        <p14:creationId xmlns:p14="http://schemas.microsoft.com/office/powerpoint/2010/main" val="2329386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560063-509F-4642-A07F-57A2D7C99390}" type="datetimeFigureOut">
              <a:rPr lang="en-IN" smtClean="0"/>
              <a:t>17-04-2025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EF5A65-1D26-4C7F-B77A-8BFF38C82BC2}" type="slidenum">
              <a:rPr lang="en-IN" smtClean="0"/>
              <a:t>‹#›</a:t>
            </a:fld>
            <a:endParaRPr lang="en-IN"/>
          </a:p>
        </p:txBody>
      </p:sp>
    </p:spTree>
    <p:extLst>
      <p:ext uri="{BB962C8B-B14F-4D97-AF65-F5344CB8AC3E}">
        <p14:creationId xmlns:p14="http://schemas.microsoft.com/office/powerpoint/2010/main" val="24398862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560063-509F-4642-A07F-57A2D7C99390}" type="datetimeFigureOut">
              <a:rPr lang="en-IN" smtClean="0"/>
              <a:t>17-04-2025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BEF5A65-1D26-4C7F-B77A-8BFF38C82BC2}" type="slidenum">
              <a:rPr lang="en-IN" smtClean="0"/>
              <a:t>‹#›</a:t>
            </a:fld>
            <a:endParaRPr lang="en-IN"/>
          </a:p>
        </p:txBody>
      </p:sp>
    </p:spTree>
    <p:extLst>
      <p:ext uri="{BB962C8B-B14F-4D97-AF65-F5344CB8AC3E}">
        <p14:creationId xmlns:p14="http://schemas.microsoft.com/office/powerpoint/2010/main" val="21910386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560063-509F-4642-A07F-57A2D7C99390}" type="datetimeFigureOut">
              <a:rPr lang="en-IN" smtClean="0"/>
              <a:t>17-04-2025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BEF5A65-1D26-4C7F-B77A-8BFF38C82BC2}" type="slidenum">
              <a:rPr lang="en-IN" smtClean="0"/>
              <a:t>‹#›</a:t>
            </a:fld>
            <a:endParaRPr lang="en-IN"/>
          </a:p>
        </p:txBody>
      </p:sp>
    </p:spTree>
    <p:extLst>
      <p:ext uri="{BB962C8B-B14F-4D97-AF65-F5344CB8AC3E}">
        <p14:creationId xmlns:p14="http://schemas.microsoft.com/office/powerpoint/2010/main" val="3800250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88560063-509F-4642-A07F-57A2D7C99390}" type="datetimeFigureOut">
              <a:rPr lang="en-IN" smtClean="0"/>
              <a:t>17-04-2025</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6BEF5A65-1D26-4C7F-B77A-8BFF38C82BC2}" type="slidenum">
              <a:rPr lang="en-IN" smtClean="0"/>
              <a:t>‹#›</a:t>
            </a:fld>
            <a:endParaRPr lang="en-IN"/>
          </a:p>
        </p:txBody>
      </p:sp>
    </p:spTree>
    <p:extLst>
      <p:ext uri="{BB962C8B-B14F-4D97-AF65-F5344CB8AC3E}">
        <p14:creationId xmlns:p14="http://schemas.microsoft.com/office/powerpoint/2010/main" val="698517184"/>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5" name="Picture 4" descr="Close-up of hopscotch on a sidewalk">
            <a:extLst>
              <a:ext uri="{FF2B5EF4-FFF2-40B4-BE49-F238E27FC236}">
                <a16:creationId xmlns:a16="http://schemas.microsoft.com/office/drawing/2014/main" id="{ABEB9606-FB31-5E07-DBF6-6AB479F1C200}"/>
              </a:ext>
            </a:extLst>
          </p:cNvPr>
          <p:cNvPicPr>
            <a:picLocks noChangeAspect="1"/>
          </p:cNvPicPr>
          <p:nvPr/>
        </p:nvPicPr>
        <p:blipFill>
          <a:blip r:embed="rId2">
            <a:duotone>
              <a:schemeClr val="accent2">
                <a:shade val="45000"/>
                <a:satMod val="135000"/>
              </a:schemeClr>
              <a:prstClr val="white"/>
            </a:duotone>
            <a:alphaModFix amt="50000"/>
          </a:blip>
          <a:srcRect t="8311" b="7419"/>
          <a:stretch/>
        </p:blipFill>
        <p:spPr>
          <a:xfrm>
            <a:off x="20" y="0"/>
            <a:ext cx="12191980" cy="6857990"/>
          </a:xfrm>
          <a:prstGeom prst="rect">
            <a:avLst/>
          </a:prstGeom>
        </p:spPr>
      </p:pic>
      <p:sp>
        <p:nvSpPr>
          <p:cNvPr id="2" name="Title 1">
            <a:extLst>
              <a:ext uri="{FF2B5EF4-FFF2-40B4-BE49-F238E27FC236}">
                <a16:creationId xmlns:a16="http://schemas.microsoft.com/office/drawing/2014/main" id="{E3CB7A2B-10C0-8A3D-48D6-7B497EA13D3D}"/>
              </a:ext>
            </a:extLst>
          </p:cNvPr>
          <p:cNvSpPr>
            <a:spLocks noGrp="1"/>
          </p:cNvSpPr>
          <p:nvPr>
            <p:ph type="ctrTitle"/>
          </p:nvPr>
        </p:nvSpPr>
        <p:spPr>
          <a:xfrm>
            <a:off x="1600200" y="2386744"/>
            <a:ext cx="8991600" cy="1645920"/>
          </a:xfrm>
        </p:spPr>
        <p:txBody>
          <a:bodyPr>
            <a:normAutofit/>
          </a:bodyPr>
          <a:lstStyle/>
          <a:p>
            <a:r>
              <a:rPr lang="en-US" b="1">
                <a:latin typeface="__Inter_d65c78"/>
              </a:rPr>
              <a:t>Sales and Product Management System</a:t>
            </a:r>
            <a:endParaRPr lang="en-IN" b="1">
              <a:latin typeface="__Inter_d65c78"/>
            </a:endParaRPr>
          </a:p>
        </p:txBody>
      </p:sp>
      <p:sp>
        <p:nvSpPr>
          <p:cNvPr id="3" name="Subtitle 2">
            <a:extLst>
              <a:ext uri="{FF2B5EF4-FFF2-40B4-BE49-F238E27FC236}">
                <a16:creationId xmlns:a16="http://schemas.microsoft.com/office/drawing/2014/main" id="{A95F5677-5E78-16CF-FB02-94120F127CB7}"/>
              </a:ext>
            </a:extLst>
          </p:cNvPr>
          <p:cNvSpPr>
            <a:spLocks noGrp="1"/>
          </p:cNvSpPr>
          <p:nvPr>
            <p:ph type="subTitle" idx="1"/>
          </p:nvPr>
        </p:nvSpPr>
        <p:spPr>
          <a:xfrm>
            <a:off x="5246370" y="4251158"/>
            <a:ext cx="6801612" cy="1239894"/>
          </a:xfrm>
        </p:spPr>
        <p:txBody>
          <a:bodyPr>
            <a:normAutofit/>
          </a:bodyPr>
          <a:lstStyle/>
          <a:p>
            <a:endParaRPr lang="en-IN" dirty="0">
              <a:solidFill>
                <a:schemeClr val="tx1">
                  <a:lumMod val="85000"/>
                  <a:lumOff val="15000"/>
                </a:schemeClr>
              </a:solidFill>
            </a:endParaRPr>
          </a:p>
          <a:p>
            <a:r>
              <a:rPr lang="en-IN" sz="3200" b="1" dirty="0">
                <a:solidFill>
                  <a:schemeClr val="tx1">
                    <a:lumMod val="85000"/>
                    <a:lumOff val="15000"/>
                  </a:schemeClr>
                </a:solidFill>
                <a:latin typeface="__Inter_d65c78"/>
              </a:rPr>
              <a:t>      </a:t>
            </a:r>
            <a:r>
              <a:rPr lang="en-IN" sz="3200" b="1" dirty="0">
                <a:solidFill>
                  <a:schemeClr val="tx1"/>
                </a:solidFill>
                <a:latin typeface="__Inter_d65c78"/>
              </a:rPr>
              <a:t>- BY ANGAD KADAM</a:t>
            </a:r>
          </a:p>
        </p:txBody>
      </p:sp>
    </p:spTree>
    <p:extLst>
      <p:ext uri="{BB962C8B-B14F-4D97-AF65-F5344CB8AC3E}">
        <p14:creationId xmlns:p14="http://schemas.microsoft.com/office/powerpoint/2010/main" val="27484687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47449-BBDB-1493-2412-8D429F389E0C}"/>
              </a:ext>
            </a:extLst>
          </p:cNvPr>
          <p:cNvSpPr>
            <a:spLocks noGrp="1"/>
          </p:cNvSpPr>
          <p:nvPr>
            <p:ph type="title"/>
          </p:nvPr>
        </p:nvSpPr>
        <p:spPr>
          <a:xfrm>
            <a:off x="2231136" y="982980"/>
            <a:ext cx="7729728" cy="1188720"/>
          </a:xfrm>
        </p:spPr>
        <p:txBody>
          <a:bodyPr>
            <a:normAutofit/>
          </a:bodyPr>
          <a:lstStyle/>
          <a:p>
            <a:r>
              <a:rPr lang="en-IN" b="1" i="0">
                <a:effectLst/>
                <a:latin typeface="__Inter_d65c78"/>
              </a:rPr>
              <a:t>Project Objectives</a:t>
            </a:r>
            <a:endParaRPr lang="en-IN" dirty="0"/>
          </a:p>
        </p:txBody>
      </p:sp>
      <p:graphicFrame>
        <p:nvGraphicFramePr>
          <p:cNvPr id="11" name="Content Placeholder 2">
            <a:extLst>
              <a:ext uri="{FF2B5EF4-FFF2-40B4-BE49-F238E27FC236}">
                <a16:creationId xmlns:a16="http://schemas.microsoft.com/office/drawing/2014/main" id="{80B87EFB-1428-E052-28B5-FAEFF5A6ED90}"/>
              </a:ext>
            </a:extLst>
          </p:cNvPr>
          <p:cNvGraphicFramePr>
            <a:graphicFrameLocks noGrp="1"/>
          </p:cNvGraphicFramePr>
          <p:nvPr>
            <p:ph sz="quarter" idx="13"/>
            <p:extLst>
              <p:ext uri="{D42A27DB-BD31-4B8C-83A1-F6EECF244321}">
                <p14:modId xmlns:p14="http://schemas.microsoft.com/office/powerpoint/2010/main" val="3102723320"/>
              </p:ext>
            </p:extLst>
          </p:nvPr>
        </p:nvGraphicFramePr>
        <p:xfrm>
          <a:off x="242824" y="2675001"/>
          <a:ext cx="11635232" cy="31077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716556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591149-B5D7-E432-641E-E6C3023E4C96}"/>
              </a:ext>
            </a:extLst>
          </p:cNvPr>
          <p:cNvSpPr>
            <a:spLocks noGrp="1"/>
          </p:cNvSpPr>
          <p:nvPr>
            <p:ph type="title"/>
          </p:nvPr>
        </p:nvSpPr>
        <p:spPr>
          <a:xfrm>
            <a:off x="256031" y="643467"/>
            <a:ext cx="3751410" cy="1728044"/>
          </a:xfrm>
          <a:noFill/>
          <a:ln>
            <a:solidFill>
              <a:schemeClr val="bg1"/>
            </a:solidFill>
          </a:ln>
        </p:spPr>
        <p:txBody>
          <a:bodyPr wrap="square">
            <a:normAutofit/>
          </a:bodyPr>
          <a:lstStyle/>
          <a:p>
            <a:r>
              <a:rPr lang="en-IN" b="1" i="0">
                <a:solidFill>
                  <a:schemeClr val="bg1"/>
                </a:solidFill>
                <a:effectLst/>
                <a:latin typeface="__Inter_d65c78"/>
              </a:rPr>
              <a:t>Database Structure</a:t>
            </a:r>
            <a:endParaRPr lang="en-IN">
              <a:solidFill>
                <a:schemeClr val="bg1"/>
              </a:solidFill>
            </a:endParaRPr>
          </a:p>
        </p:txBody>
      </p:sp>
      <p:sp>
        <p:nvSpPr>
          <p:cNvPr id="3" name="Content Placeholder 2">
            <a:extLst>
              <a:ext uri="{FF2B5EF4-FFF2-40B4-BE49-F238E27FC236}">
                <a16:creationId xmlns:a16="http://schemas.microsoft.com/office/drawing/2014/main" id="{CA362D3A-C029-EEA3-EEFA-251168443AAD}"/>
              </a:ext>
            </a:extLst>
          </p:cNvPr>
          <p:cNvSpPr>
            <a:spLocks noGrp="1"/>
          </p:cNvSpPr>
          <p:nvPr>
            <p:ph sz="quarter" idx="13"/>
          </p:nvPr>
        </p:nvSpPr>
        <p:spPr>
          <a:xfrm>
            <a:off x="256032" y="2638043"/>
            <a:ext cx="3751410" cy="3576489"/>
          </a:xfrm>
        </p:spPr>
        <p:txBody>
          <a:bodyPr>
            <a:normAutofit/>
          </a:bodyPr>
          <a:lstStyle/>
          <a:p>
            <a:pPr>
              <a:lnSpc>
                <a:spcPct val="90000"/>
              </a:lnSpc>
              <a:buFont typeface="Arial" panose="020B0604020202020204" pitchFamily="34" charset="0"/>
              <a:buChar char="•"/>
            </a:pPr>
            <a:r>
              <a:rPr lang="en-US" sz="1700" b="0" i="0" dirty="0">
                <a:solidFill>
                  <a:schemeClr val="bg1"/>
                </a:solidFill>
                <a:effectLst/>
                <a:latin typeface="__Inter_d65c78"/>
              </a:rPr>
              <a:t>Description of the four main tables:</a:t>
            </a:r>
          </a:p>
          <a:p>
            <a:pPr marL="742950" lvl="1" indent="-285750">
              <a:lnSpc>
                <a:spcPct val="90000"/>
              </a:lnSpc>
              <a:buFont typeface="Arial" panose="020B0604020202020204" pitchFamily="34" charset="0"/>
              <a:buChar char="•"/>
            </a:pPr>
            <a:r>
              <a:rPr lang="en-US" sz="1700" b="1" i="0" dirty="0">
                <a:solidFill>
                  <a:schemeClr val="bg1"/>
                </a:solidFill>
                <a:effectLst/>
                <a:latin typeface="__Inter_d65c78"/>
              </a:rPr>
              <a:t>Geo:</a:t>
            </a:r>
            <a:r>
              <a:rPr lang="en-US" sz="1700" b="0" i="0" dirty="0">
                <a:solidFill>
                  <a:schemeClr val="bg1"/>
                </a:solidFill>
                <a:effectLst/>
                <a:latin typeface="__Inter_d65c78"/>
              </a:rPr>
              <a:t> Contains geographic information.</a:t>
            </a:r>
          </a:p>
          <a:p>
            <a:pPr marL="742950" lvl="1" indent="-285750">
              <a:lnSpc>
                <a:spcPct val="90000"/>
              </a:lnSpc>
              <a:buFont typeface="Arial" panose="020B0604020202020204" pitchFamily="34" charset="0"/>
              <a:buChar char="•"/>
            </a:pPr>
            <a:r>
              <a:rPr lang="en-US" sz="1700" b="1" i="0" dirty="0">
                <a:solidFill>
                  <a:schemeClr val="bg1"/>
                </a:solidFill>
                <a:effectLst/>
                <a:latin typeface="__Inter_d65c78"/>
              </a:rPr>
              <a:t>People:</a:t>
            </a:r>
            <a:r>
              <a:rPr lang="en-US" sz="1700" b="0" i="0" dirty="0">
                <a:solidFill>
                  <a:schemeClr val="bg1"/>
                </a:solidFill>
                <a:effectLst/>
                <a:latin typeface="__Inter_d65c78"/>
              </a:rPr>
              <a:t> Stores salesperson details.</a:t>
            </a:r>
          </a:p>
          <a:p>
            <a:pPr marL="742950" lvl="1" indent="-285750">
              <a:lnSpc>
                <a:spcPct val="90000"/>
              </a:lnSpc>
              <a:buFont typeface="Arial" panose="020B0604020202020204" pitchFamily="34" charset="0"/>
              <a:buChar char="•"/>
            </a:pPr>
            <a:r>
              <a:rPr lang="en-US" sz="1700" b="1" i="0" dirty="0">
                <a:solidFill>
                  <a:schemeClr val="bg1"/>
                </a:solidFill>
                <a:effectLst/>
                <a:latin typeface="__Inter_d65c78"/>
              </a:rPr>
              <a:t>Products:</a:t>
            </a:r>
            <a:r>
              <a:rPr lang="en-US" sz="1700" b="0" i="0" dirty="0">
                <a:solidFill>
                  <a:schemeClr val="bg1"/>
                </a:solidFill>
                <a:effectLst/>
                <a:latin typeface="__Inter_d65c78"/>
              </a:rPr>
              <a:t> Lists product information.</a:t>
            </a:r>
          </a:p>
          <a:p>
            <a:pPr marL="742950" lvl="1" indent="-285750">
              <a:lnSpc>
                <a:spcPct val="90000"/>
              </a:lnSpc>
              <a:buFont typeface="Arial" panose="020B0604020202020204" pitchFamily="34" charset="0"/>
              <a:buChar char="•"/>
            </a:pPr>
            <a:r>
              <a:rPr lang="en-US" sz="1700" b="1" i="0" dirty="0">
                <a:solidFill>
                  <a:schemeClr val="bg1"/>
                </a:solidFill>
                <a:effectLst/>
                <a:latin typeface="__Inter_d65c78"/>
              </a:rPr>
              <a:t>Sales:</a:t>
            </a:r>
            <a:r>
              <a:rPr lang="en-US" sz="1700" b="0" i="0" dirty="0">
                <a:solidFill>
                  <a:schemeClr val="bg1"/>
                </a:solidFill>
                <a:effectLst/>
                <a:latin typeface="__Inter_d65c78"/>
              </a:rPr>
              <a:t> Records sales transactions.</a:t>
            </a:r>
          </a:p>
          <a:p>
            <a:pPr>
              <a:lnSpc>
                <a:spcPct val="90000"/>
              </a:lnSpc>
              <a:buFont typeface="Arial" panose="020B0604020202020204" pitchFamily="34" charset="0"/>
              <a:buChar char="•"/>
            </a:pPr>
            <a:r>
              <a:rPr lang="en-US" sz="1700" b="0" i="0" dirty="0">
                <a:solidFill>
                  <a:schemeClr val="bg1"/>
                </a:solidFill>
                <a:effectLst/>
                <a:latin typeface="__Inter_d65c78"/>
              </a:rPr>
              <a:t>This tables are connected with foreign keys for efficient and robust database structure.</a:t>
            </a:r>
          </a:p>
          <a:p>
            <a:pPr marL="0" indent="0">
              <a:lnSpc>
                <a:spcPct val="90000"/>
              </a:lnSpc>
              <a:buNone/>
            </a:pPr>
            <a:endParaRPr lang="en-IN" sz="1700" dirty="0">
              <a:solidFill>
                <a:schemeClr val="bg1"/>
              </a:solidFill>
            </a:endParaRPr>
          </a:p>
        </p:txBody>
      </p:sp>
      <p:pic>
        <p:nvPicPr>
          <p:cNvPr id="7" name="Picture 6" descr="A screen shot of a computer code&#10;&#10;AI-generated content may be incorrect.">
            <a:extLst>
              <a:ext uri="{FF2B5EF4-FFF2-40B4-BE49-F238E27FC236}">
                <a16:creationId xmlns:a16="http://schemas.microsoft.com/office/drawing/2014/main" id="{7DF30F26-D9C0-F68A-17B5-9175744484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7763" y="1512403"/>
            <a:ext cx="6250769" cy="3672326"/>
          </a:xfrm>
          <a:prstGeom prst="rect">
            <a:avLst/>
          </a:prstGeom>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111469895"/>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19662-AD8A-F098-6D62-69B762A81E75}"/>
            </a:ext>
          </a:extLst>
        </p:cNvPr>
        <p:cNvGrpSpPr/>
        <p:nvPr/>
      </p:nvGrpSpPr>
      <p:grpSpPr>
        <a:xfrm>
          <a:off x="0" y="0"/>
          <a:ext cx="0" cy="0"/>
          <a:chOff x="0" y="0"/>
          <a:chExt cx="0" cy="0"/>
        </a:xfrm>
      </p:grpSpPr>
      <p:sp>
        <p:nvSpPr>
          <p:cNvPr id="7" name="Rectangle 1">
            <a:extLst>
              <a:ext uri="{FF2B5EF4-FFF2-40B4-BE49-F238E27FC236}">
                <a16:creationId xmlns:a16="http://schemas.microsoft.com/office/drawing/2014/main" id="{12B12EDB-75AF-0295-A3BB-744A06EA2876}"/>
              </a:ext>
            </a:extLst>
          </p:cNvPr>
          <p:cNvSpPr>
            <a:spLocks noGrp="1" noChangeArrowheads="1"/>
          </p:cNvSpPr>
          <p:nvPr>
            <p:ph type="title"/>
          </p:nvPr>
        </p:nvSpPr>
        <p:spPr bwMode="auto">
          <a:xfrm>
            <a:off x="166551" y="448192"/>
            <a:ext cx="10515600" cy="67710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sz="1800" b="1" i="0" dirty="0">
                <a:effectLst/>
                <a:latin typeface="__Inter_d65c78"/>
              </a:rPr>
              <a:t>Ensuring Data Integrity: Column Modifications for clarity</a:t>
            </a:r>
            <a:r>
              <a:rPr kumimoji="0" lang="en-US" altLang="en-US" sz="1800" b="1" i="0" u="none" strike="noStrike" cap="none" normalizeH="0" baseline="0" dirty="0">
                <a:ln>
                  <a:noFill/>
                </a:ln>
                <a:effectLst/>
                <a:latin typeface="__Inter_d65c78"/>
              </a:rPr>
              <a:t>:</a:t>
            </a:r>
            <a:br>
              <a:rPr kumimoji="0" lang="en-US" altLang="en-US" sz="2000" b="1" i="0" u="none" strike="noStrike" cap="none" normalizeH="0" baseline="0" dirty="0">
                <a:ln>
                  <a:noFill/>
                </a:ln>
                <a:solidFill>
                  <a:schemeClr val="tx1"/>
                </a:solidFill>
                <a:effectLst/>
                <a:latin typeface="__Inter_d65c78"/>
              </a:rPr>
            </a:br>
            <a:r>
              <a:rPr kumimoji="0" lang="en-US" altLang="en-US" sz="2000" b="1" i="0" u="none" strike="noStrike" cap="none" normalizeH="0" baseline="0" dirty="0">
                <a:ln>
                  <a:noFill/>
                </a:ln>
                <a:solidFill>
                  <a:schemeClr val="tx1"/>
                </a:solidFill>
                <a:effectLst/>
                <a:latin typeface="__Inter_d65c78"/>
              </a:rPr>
              <a:t>Explanation: </a:t>
            </a:r>
            <a:r>
              <a:rPr lang="en-US" sz="1600" b="0" i="0" dirty="0">
                <a:effectLst/>
                <a:latin typeface="__Inter_d65c78"/>
              </a:rPr>
              <a:t>Renames "Geo" column to "Country" in the "geo" table.</a:t>
            </a:r>
            <a:endParaRPr kumimoji="0" lang="en-US" altLang="en-US" sz="1600" b="0" i="0" u="none" strike="noStrike" cap="none" normalizeH="0" baseline="0" dirty="0">
              <a:ln>
                <a:noFill/>
              </a:ln>
              <a:effectLst/>
              <a:latin typeface="__Inter_d65c78"/>
            </a:endParaRPr>
          </a:p>
        </p:txBody>
      </p:sp>
      <p:sp>
        <p:nvSpPr>
          <p:cNvPr id="3" name="Text Placeholder 2">
            <a:extLst>
              <a:ext uri="{FF2B5EF4-FFF2-40B4-BE49-F238E27FC236}">
                <a16:creationId xmlns:a16="http://schemas.microsoft.com/office/drawing/2014/main" id="{BA9CCEA0-22FD-CB9A-8075-41ED1A69B7FD}"/>
              </a:ext>
            </a:extLst>
          </p:cNvPr>
          <p:cNvSpPr>
            <a:spLocks noGrp="1"/>
          </p:cNvSpPr>
          <p:nvPr>
            <p:ph type="body" idx="1"/>
          </p:nvPr>
        </p:nvSpPr>
        <p:spPr/>
        <p:txBody>
          <a:bodyPr/>
          <a:lstStyle/>
          <a:p>
            <a:r>
              <a:rPr lang="en-IN" dirty="0"/>
              <a:t>Input</a:t>
            </a:r>
          </a:p>
        </p:txBody>
      </p:sp>
      <p:sp>
        <p:nvSpPr>
          <p:cNvPr id="5" name="Text Placeholder 4">
            <a:extLst>
              <a:ext uri="{FF2B5EF4-FFF2-40B4-BE49-F238E27FC236}">
                <a16:creationId xmlns:a16="http://schemas.microsoft.com/office/drawing/2014/main" id="{A4A066CD-FC4B-FE7A-B3A9-94F615BD6473}"/>
              </a:ext>
            </a:extLst>
          </p:cNvPr>
          <p:cNvSpPr>
            <a:spLocks noGrp="1"/>
          </p:cNvSpPr>
          <p:nvPr>
            <p:ph type="body" sz="quarter" idx="3"/>
          </p:nvPr>
        </p:nvSpPr>
        <p:spPr/>
        <p:txBody>
          <a:bodyPr/>
          <a:lstStyle/>
          <a:p>
            <a:r>
              <a:rPr lang="en-IN" dirty="0"/>
              <a:t>Output</a:t>
            </a:r>
          </a:p>
        </p:txBody>
      </p:sp>
      <p:pic>
        <p:nvPicPr>
          <p:cNvPr id="4" name="Picture 3" descr="A close up of blue text&#10;&#10;AI-generated content may be incorrect.">
            <a:extLst>
              <a:ext uri="{FF2B5EF4-FFF2-40B4-BE49-F238E27FC236}">
                <a16:creationId xmlns:a16="http://schemas.microsoft.com/office/drawing/2014/main" id="{DDC0FB2C-6DB5-5B82-87B3-8CA229FE75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424" y="4079026"/>
            <a:ext cx="4368952" cy="823912"/>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B411A5A6-691C-A43F-BFF0-165A55AC7C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6520" y="4610330"/>
            <a:ext cx="3557016" cy="1680742"/>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F85523A9-B0A4-EEA7-CDC2-24624F1878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6520" y="2650176"/>
            <a:ext cx="3557016" cy="1610927"/>
          </a:xfrm>
          <a:prstGeom prst="rect">
            <a:avLst/>
          </a:prstGeom>
        </p:spPr>
      </p:pic>
    </p:spTree>
    <p:extLst>
      <p:ext uri="{BB962C8B-B14F-4D97-AF65-F5344CB8AC3E}">
        <p14:creationId xmlns:p14="http://schemas.microsoft.com/office/powerpoint/2010/main" val="328295980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8BC2F2-6F24-1CBF-B9DE-041CB08191DF}"/>
              </a:ext>
            </a:extLst>
          </p:cNvPr>
          <p:cNvSpPr>
            <a:spLocks noGrp="1"/>
          </p:cNvSpPr>
          <p:nvPr>
            <p:ph type="title"/>
          </p:nvPr>
        </p:nvSpPr>
        <p:spPr>
          <a:xfrm>
            <a:off x="308156" y="309585"/>
            <a:ext cx="10958186" cy="1190186"/>
          </a:xfrm>
        </p:spPr>
        <p:txBody>
          <a:bodyPr>
            <a:noAutofit/>
          </a:bodyPr>
          <a:lstStyle/>
          <a:p>
            <a:pPr algn="l"/>
            <a:r>
              <a:rPr lang="en-US" sz="1800" b="1" i="0" dirty="0">
                <a:solidFill>
                  <a:srgbClr val="374151"/>
                </a:solidFill>
                <a:effectLst/>
                <a:latin typeface="__Inter_d65c78"/>
              </a:rPr>
              <a:t>Modifying the Region column in the geo table to disallow NULL values, ensuring all records have valid data.</a:t>
            </a:r>
            <a:endParaRPr lang="en-IN" sz="1800" b="1" dirty="0">
              <a:latin typeface="__Inter_d65c78"/>
            </a:endParaRPr>
          </a:p>
        </p:txBody>
      </p:sp>
      <p:sp>
        <p:nvSpPr>
          <p:cNvPr id="5" name="Text Placeholder 4">
            <a:extLst>
              <a:ext uri="{FF2B5EF4-FFF2-40B4-BE49-F238E27FC236}">
                <a16:creationId xmlns:a16="http://schemas.microsoft.com/office/drawing/2014/main" id="{40FCBD53-C40B-58BD-E0B0-BFF8ACFFD84A}"/>
              </a:ext>
            </a:extLst>
          </p:cNvPr>
          <p:cNvSpPr>
            <a:spLocks noGrp="1"/>
          </p:cNvSpPr>
          <p:nvPr>
            <p:ph type="body" idx="1"/>
          </p:nvPr>
        </p:nvSpPr>
        <p:spPr>
          <a:xfrm>
            <a:off x="913775" y="1564782"/>
            <a:ext cx="4873474" cy="679994"/>
          </a:xfrm>
        </p:spPr>
        <p:txBody>
          <a:bodyPr/>
          <a:lstStyle/>
          <a:p>
            <a:r>
              <a:rPr lang="en-IN" b="1" dirty="0">
                <a:latin typeface="__Inter_d65c78"/>
              </a:rPr>
              <a:t>Input</a:t>
            </a:r>
            <a:r>
              <a:rPr lang="en-IN" dirty="0">
                <a:latin typeface="__Inter_d65c78"/>
              </a:rPr>
              <a:t>	</a:t>
            </a:r>
            <a:r>
              <a:rPr lang="en-IN" dirty="0"/>
              <a:t>	</a:t>
            </a:r>
          </a:p>
        </p:txBody>
      </p:sp>
      <p:sp>
        <p:nvSpPr>
          <p:cNvPr id="6" name="Text Placeholder 5">
            <a:extLst>
              <a:ext uri="{FF2B5EF4-FFF2-40B4-BE49-F238E27FC236}">
                <a16:creationId xmlns:a16="http://schemas.microsoft.com/office/drawing/2014/main" id="{B0749D6C-245C-5613-8F30-32AC59A633FC}"/>
              </a:ext>
            </a:extLst>
          </p:cNvPr>
          <p:cNvSpPr>
            <a:spLocks noGrp="1"/>
          </p:cNvSpPr>
          <p:nvPr>
            <p:ph type="body" sz="quarter" idx="3"/>
          </p:nvPr>
        </p:nvSpPr>
        <p:spPr>
          <a:xfrm>
            <a:off x="6168173" y="1564782"/>
            <a:ext cx="4881804" cy="679994"/>
          </a:xfrm>
        </p:spPr>
        <p:txBody>
          <a:bodyPr/>
          <a:lstStyle/>
          <a:p>
            <a:r>
              <a:rPr lang="en-IN" b="1" dirty="0">
                <a:latin typeface="__Inter_d65c78"/>
              </a:rPr>
              <a:t>Output</a:t>
            </a:r>
          </a:p>
        </p:txBody>
      </p:sp>
      <p:pic>
        <p:nvPicPr>
          <p:cNvPr id="14" name="Picture 13" descr="A group of words on a white background&#10;&#10;AI-generated content may be incorrect.">
            <a:extLst>
              <a:ext uri="{FF2B5EF4-FFF2-40B4-BE49-F238E27FC236}">
                <a16:creationId xmlns:a16="http://schemas.microsoft.com/office/drawing/2014/main" id="{AD11697F-F80E-65E8-CA12-975D46DB73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74" y="3877056"/>
            <a:ext cx="4042273" cy="1344168"/>
          </a:xfrm>
          <a:prstGeom prst="rect">
            <a:avLst/>
          </a:prstGeom>
        </p:spPr>
      </p:pic>
      <p:pic>
        <p:nvPicPr>
          <p:cNvPr id="16" name="Picture 15" descr="A screenshot of a computer&#10;&#10;AI-generated content may be incorrect.">
            <a:extLst>
              <a:ext uri="{FF2B5EF4-FFF2-40B4-BE49-F238E27FC236}">
                <a16:creationId xmlns:a16="http://schemas.microsoft.com/office/drawing/2014/main" id="{74D4BFE8-05CD-07BE-F693-5189A38A64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8173" y="3630168"/>
            <a:ext cx="4697320" cy="1847088"/>
          </a:xfrm>
          <a:prstGeom prst="rect">
            <a:avLst/>
          </a:prstGeom>
        </p:spPr>
      </p:pic>
    </p:spTree>
    <p:extLst>
      <p:ext uri="{BB962C8B-B14F-4D97-AF65-F5344CB8AC3E}">
        <p14:creationId xmlns:p14="http://schemas.microsoft.com/office/powerpoint/2010/main" val="3614455931"/>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193A1-CC29-83B2-34B6-DF04F8640C0D}"/>
            </a:ext>
          </a:extLst>
        </p:cNvPr>
        <p:cNvGrpSpPr/>
        <p:nvPr/>
      </p:nvGrpSpPr>
      <p:grpSpPr>
        <a:xfrm>
          <a:off x="0" y="0"/>
          <a:ext cx="0" cy="0"/>
          <a:chOff x="0" y="0"/>
          <a:chExt cx="0" cy="0"/>
        </a:xfrm>
      </p:grpSpPr>
      <p:sp>
        <p:nvSpPr>
          <p:cNvPr id="7" name="Rectangle 1">
            <a:extLst>
              <a:ext uri="{FF2B5EF4-FFF2-40B4-BE49-F238E27FC236}">
                <a16:creationId xmlns:a16="http://schemas.microsoft.com/office/drawing/2014/main" id="{8CEC0467-C200-136C-CF16-BE74783D7E38}"/>
              </a:ext>
            </a:extLst>
          </p:cNvPr>
          <p:cNvSpPr>
            <a:spLocks noGrp="1" noChangeArrowheads="1"/>
          </p:cNvSpPr>
          <p:nvPr>
            <p:ph type="title"/>
          </p:nvPr>
        </p:nvSpPr>
        <p:spPr bwMode="auto">
          <a:xfrm>
            <a:off x="128016" y="333088"/>
            <a:ext cx="10515600"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sz="2000" b="1" i="0" dirty="0">
                <a:effectLst/>
                <a:latin typeface="__Inter_d65c78"/>
              </a:rPr>
              <a:t>Aggregate Analysis of Sales and Boxes Sold by Product Category</a:t>
            </a:r>
            <a:endParaRPr kumimoji="0" lang="en-US" altLang="en-US" sz="1800" b="1" i="0" u="none" strike="noStrike" cap="none" normalizeH="0" baseline="0" dirty="0">
              <a:ln>
                <a:noFill/>
              </a:ln>
              <a:solidFill>
                <a:schemeClr val="tx1"/>
              </a:solidFill>
              <a:effectLst/>
              <a:latin typeface="Amasis MT Pro" panose="020F0502020204030204" pitchFamily="18" charset="0"/>
            </a:endParaRPr>
          </a:p>
        </p:txBody>
      </p:sp>
      <p:sp>
        <p:nvSpPr>
          <p:cNvPr id="3" name="Text Placeholder 2">
            <a:extLst>
              <a:ext uri="{FF2B5EF4-FFF2-40B4-BE49-F238E27FC236}">
                <a16:creationId xmlns:a16="http://schemas.microsoft.com/office/drawing/2014/main" id="{012C1E34-EFE2-A22A-0888-D20C14C28A79}"/>
              </a:ext>
            </a:extLst>
          </p:cNvPr>
          <p:cNvSpPr>
            <a:spLocks noGrp="1"/>
          </p:cNvSpPr>
          <p:nvPr>
            <p:ph type="body" idx="1"/>
          </p:nvPr>
        </p:nvSpPr>
        <p:spPr>
          <a:xfrm>
            <a:off x="839788" y="1681163"/>
            <a:ext cx="5157787" cy="823912"/>
          </a:xfrm>
        </p:spPr>
        <p:txBody>
          <a:bodyPr/>
          <a:lstStyle/>
          <a:p>
            <a:r>
              <a:rPr lang="en-IN" dirty="0"/>
              <a:t>Input</a:t>
            </a:r>
          </a:p>
        </p:txBody>
      </p:sp>
      <p:pic>
        <p:nvPicPr>
          <p:cNvPr id="10" name="Content Placeholder 9" descr="A screenshot of a computer&#10;&#10;AI-generated content may be incorrect.">
            <a:extLst>
              <a:ext uri="{FF2B5EF4-FFF2-40B4-BE49-F238E27FC236}">
                <a16:creationId xmlns:a16="http://schemas.microsoft.com/office/drawing/2014/main" id="{7296FB01-5276-4468-1FF0-942D70E2628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3118104"/>
            <a:ext cx="4471416" cy="1956815"/>
          </a:xfrm>
        </p:spPr>
      </p:pic>
      <p:sp>
        <p:nvSpPr>
          <p:cNvPr id="5" name="Text Placeholder 4">
            <a:extLst>
              <a:ext uri="{FF2B5EF4-FFF2-40B4-BE49-F238E27FC236}">
                <a16:creationId xmlns:a16="http://schemas.microsoft.com/office/drawing/2014/main" id="{54841812-30D0-EAC7-3FC8-D2BF06EB9909}"/>
              </a:ext>
            </a:extLst>
          </p:cNvPr>
          <p:cNvSpPr>
            <a:spLocks noGrp="1"/>
          </p:cNvSpPr>
          <p:nvPr>
            <p:ph type="body" sz="quarter" idx="3"/>
          </p:nvPr>
        </p:nvSpPr>
        <p:spPr/>
        <p:txBody>
          <a:bodyPr/>
          <a:lstStyle/>
          <a:p>
            <a:r>
              <a:rPr lang="en-IN" dirty="0"/>
              <a:t>Output</a:t>
            </a:r>
          </a:p>
        </p:txBody>
      </p:sp>
      <p:pic>
        <p:nvPicPr>
          <p:cNvPr id="4" name="Picture 3" descr="A screenshot of a computer code&#10;&#10;AI-generated content may be incorrect.">
            <a:extLst>
              <a:ext uri="{FF2B5EF4-FFF2-40B4-BE49-F238E27FC236}">
                <a16:creationId xmlns:a16="http://schemas.microsoft.com/office/drawing/2014/main" id="{8F7D32A8-D007-ED84-8E14-53DF9EBA6A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050" y="3176349"/>
            <a:ext cx="4028822" cy="1840324"/>
          </a:xfrm>
          <a:prstGeom prst="rect">
            <a:avLst/>
          </a:prstGeom>
        </p:spPr>
      </p:pic>
    </p:spTree>
    <p:extLst>
      <p:ext uri="{BB962C8B-B14F-4D97-AF65-F5344CB8AC3E}">
        <p14:creationId xmlns:p14="http://schemas.microsoft.com/office/powerpoint/2010/main" val="3814812794"/>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7DF54-F81D-00C7-4C5D-A5EFCBE48263}"/>
            </a:ext>
          </a:extLst>
        </p:cNvPr>
        <p:cNvGrpSpPr/>
        <p:nvPr/>
      </p:nvGrpSpPr>
      <p:grpSpPr>
        <a:xfrm>
          <a:off x="0" y="0"/>
          <a:ext cx="0" cy="0"/>
          <a:chOff x="0" y="0"/>
          <a:chExt cx="0" cy="0"/>
        </a:xfrm>
      </p:grpSpPr>
      <p:sp>
        <p:nvSpPr>
          <p:cNvPr id="7" name="Rectangle 1">
            <a:extLst>
              <a:ext uri="{FF2B5EF4-FFF2-40B4-BE49-F238E27FC236}">
                <a16:creationId xmlns:a16="http://schemas.microsoft.com/office/drawing/2014/main" id="{BB90D2FF-C7C7-7DBB-3BD9-878A404B9F97}"/>
              </a:ext>
            </a:extLst>
          </p:cNvPr>
          <p:cNvSpPr>
            <a:spLocks noGrp="1" noChangeArrowheads="1"/>
          </p:cNvSpPr>
          <p:nvPr>
            <p:ph type="title"/>
          </p:nvPr>
        </p:nvSpPr>
        <p:spPr bwMode="auto">
          <a:xfrm>
            <a:off x="196693" y="434871"/>
            <a:ext cx="11690508" cy="67710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sz="1800" b="1" i="0" dirty="0">
                <a:effectLst/>
                <a:latin typeface="__Inter_d65c78"/>
              </a:rPr>
              <a:t>Targeted Analysis of Sales Records by Salesperson</a:t>
            </a:r>
            <a:br>
              <a:rPr lang="en-US" sz="1800" b="1" i="0" dirty="0">
                <a:solidFill>
                  <a:srgbClr val="111827"/>
                </a:solidFill>
                <a:effectLst/>
                <a:latin typeface="__Inter_d65c78"/>
              </a:rPr>
            </a:br>
            <a:r>
              <a:rPr kumimoji="0" lang="en-US" altLang="en-US" sz="2000" b="1" i="0" u="none" strike="noStrike" cap="none" normalizeH="0" baseline="0" dirty="0">
                <a:ln>
                  <a:noFill/>
                </a:ln>
                <a:solidFill>
                  <a:schemeClr val="tx1"/>
                </a:solidFill>
                <a:effectLst/>
                <a:latin typeface="__Inter_d65c78"/>
              </a:rPr>
              <a:t>Explanation:</a:t>
            </a:r>
            <a:r>
              <a:rPr lang="en-US" altLang="en-US" sz="2000" cap="none" dirty="0">
                <a:latin typeface="__Inter_d65c78"/>
              </a:rPr>
              <a:t> </a:t>
            </a:r>
            <a:r>
              <a:rPr lang="en-US" sz="1600" b="0" i="0" dirty="0">
                <a:effectLst/>
                <a:latin typeface="__Inter_d65c78"/>
              </a:rPr>
              <a:t>Retrieves sales records for specified salespersons using the IN operator</a:t>
            </a:r>
            <a:r>
              <a:rPr lang="en-US" sz="1800" b="0" i="0" dirty="0">
                <a:effectLst/>
                <a:latin typeface="__Inter_d65c78"/>
              </a:rPr>
              <a:t>.</a:t>
            </a:r>
            <a:endParaRPr kumimoji="0" lang="en-US" altLang="en-US" sz="1800" b="0" i="0" u="none" strike="noStrike" cap="none" normalizeH="0" baseline="0" dirty="0">
              <a:ln>
                <a:noFill/>
              </a:ln>
              <a:effectLst/>
              <a:latin typeface="__Inter_d65c78"/>
            </a:endParaRPr>
          </a:p>
        </p:txBody>
      </p:sp>
      <p:sp>
        <p:nvSpPr>
          <p:cNvPr id="3" name="Text Placeholder 2">
            <a:extLst>
              <a:ext uri="{FF2B5EF4-FFF2-40B4-BE49-F238E27FC236}">
                <a16:creationId xmlns:a16="http://schemas.microsoft.com/office/drawing/2014/main" id="{53A16433-D68E-3F9B-4283-2AA5C01B485F}"/>
              </a:ext>
            </a:extLst>
          </p:cNvPr>
          <p:cNvSpPr>
            <a:spLocks noGrp="1"/>
          </p:cNvSpPr>
          <p:nvPr>
            <p:ph type="body" idx="1"/>
          </p:nvPr>
        </p:nvSpPr>
        <p:spPr/>
        <p:txBody>
          <a:bodyPr/>
          <a:lstStyle/>
          <a:p>
            <a:r>
              <a:rPr lang="en-IN" dirty="0"/>
              <a:t>Input</a:t>
            </a:r>
          </a:p>
        </p:txBody>
      </p:sp>
      <p:sp>
        <p:nvSpPr>
          <p:cNvPr id="5" name="Text Placeholder 4">
            <a:extLst>
              <a:ext uri="{FF2B5EF4-FFF2-40B4-BE49-F238E27FC236}">
                <a16:creationId xmlns:a16="http://schemas.microsoft.com/office/drawing/2014/main" id="{8CB90C9E-A544-1884-D3E1-DED961848DF7}"/>
              </a:ext>
            </a:extLst>
          </p:cNvPr>
          <p:cNvSpPr>
            <a:spLocks noGrp="1"/>
          </p:cNvSpPr>
          <p:nvPr>
            <p:ph type="body" sz="quarter" idx="3"/>
          </p:nvPr>
        </p:nvSpPr>
        <p:spPr/>
        <p:txBody>
          <a:bodyPr/>
          <a:lstStyle/>
          <a:p>
            <a:r>
              <a:rPr lang="en-IN" dirty="0"/>
              <a:t>Output</a:t>
            </a:r>
          </a:p>
        </p:txBody>
      </p:sp>
      <p:pic>
        <p:nvPicPr>
          <p:cNvPr id="4" name="Picture 3" descr="A close-up of a number&#10;&#10;AI-generated content may be incorrect.">
            <a:extLst>
              <a:ext uri="{FF2B5EF4-FFF2-40B4-BE49-F238E27FC236}">
                <a16:creationId xmlns:a16="http://schemas.microsoft.com/office/drawing/2014/main" id="{861D727C-20A7-37C1-171E-DD2A525252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804" y="3874537"/>
            <a:ext cx="4455724" cy="1279732"/>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59607254-0182-EC1B-A334-A3EB1A82A6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0897" y="2966335"/>
            <a:ext cx="4711631" cy="3096137"/>
          </a:xfrm>
          <a:prstGeom prst="rect">
            <a:avLst/>
          </a:prstGeom>
        </p:spPr>
      </p:pic>
    </p:spTree>
    <p:extLst>
      <p:ext uri="{BB962C8B-B14F-4D97-AF65-F5344CB8AC3E}">
        <p14:creationId xmlns:p14="http://schemas.microsoft.com/office/powerpoint/2010/main" val="3461315770"/>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16E2E-AA73-F1A9-6647-286B558BA755}"/>
            </a:ext>
          </a:extLst>
        </p:cNvPr>
        <p:cNvGrpSpPr/>
        <p:nvPr/>
      </p:nvGrpSpPr>
      <p:grpSpPr>
        <a:xfrm>
          <a:off x="0" y="0"/>
          <a:ext cx="0" cy="0"/>
          <a:chOff x="0" y="0"/>
          <a:chExt cx="0" cy="0"/>
        </a:xfrm>
      </p:grpSpPr>
      <p:sp>
        <p:nvSpPr>
          <p:cNvPr id="7" name="Rectangle 1">
            <a:extLst>
              <a:ext uri="{FF2B5EF4-FFF2-40B4-BE49-F238E27FC236}">
                <a16:creationId xmlns:a16="http://schemas.microsoft.com/office/drawing/2014/main" id="{51ABABB7-8413-24B7-F861-D32943380DEC}"/>
              </a:ext>
            </a:extLst>
          </p:cNvPr>
          <p:cNvSpPr>
            <a:spLocks noGrp="1" noChangeArrowheads="1"/>
          </p:cNvSpPr>
          <p:nvPr>
            <p:ph type="title"/>
          </p:nvPr>
        </p:nvSpPr>
        <p:spPr bwMode="auto">
          <a:xfrm>
            <a:off x="196694" y="290294"/>
            <a:ext cx="11841232" cy="95410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sz="2000" b="1" i="0" dirty="0">
                <a:effectLst/>
                <a:latin typeface="__Inter_d65c78"/>
              </a:rPr>
              <a:t>Filtering of CATEGORIES Products by USING NAMES WITH </a:t>
            </a:r>
            <a:r>
              <a:rPr lang="en-US" sz="2000" b="1" i="0" dirty="0" err="1">
                <a:effectLst/>
                <a:latin typeface="__Inter_d65c78"/>
              </a:rPr>
              <a:t>WILDcard</a:t>
            </a:r>
            <a:r>
              <a:rPr lang="en-US" sz="2000" b="1" i="0" dirty="0">
                <a:effectLst/>
                <a:latin typeface="__Inter_d65c78"/>
              </a:rPr>
              <a:t> OPERATOR:</a:t>
            </a:r>
            <a:br>
              <a:rPr kumimoji="0" lang="en-US" altLang="en-US" sz="2000" b="1" i="0" u="none" strike="noStrike" cap="none" normalizeH="0" baseline="0" dirty="0">
                <a:ln>
                  <a:noFill/>
                </a:ln>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EXPLANATION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sz="1600" b="0" i="0" dirty="0">
                <a:effectLst/>
                <a:latin typeface="__Inter_d65c78"/>
              </a:rPr>
              <a:t>Retrieves PRODUCTS whose CATEGOTY names start with ‘B' using the LIKE operator. </a:t>
            </a:r>
            <a:endParaRPr kumimoji="0" lang="en-US" altLang="en-US" sz="1600" b="0" i="0" u="none" strike="noStrike" cap="none" normalizeH="0" baseline="0" dirty="0">
              <a:ln>
                <a:noFill/>
              </a:ln>
              <a:effectLst/>
              <a:latin typeface="Arial" panose="020B0604020202020204" pitchFamily="34" charset="0"/>
            </a:endParaRPr>
          </a:p>
        </p:txBody>
      </p:sp>
      <p:sp>
        <p:nvSpPr>
          <p:cNvPr id="3" name="Text Placeholder 2">
            <a:extLst>
              <a:ext uri="{FF2B5EF4-FFF2-40B4-BE49-F238E27FC236}">
                <a16:creationId xmlns:a16="http://schemas.microsoft.com/office/drawing/2014/main" id="{811F16D3-97C3-9D9A-C53F-9294F508758E}"/>
              </a:ext>
            </a:extLst>
          </p:cNvPr>
          <p:cNvSpPr>
            <a:spLocks noGrp="1"/>
          </p:cNvSpPr>
          <p:nvPr>
            <p:ph type="body" idx="1"/>
          </p:nvPr>
        </p:nvSpPr>
        <p:spPr/>
        <p:txBody>
          <a:bodyPr/>
          <a:lstStyle/>
          <a:p>
            <a:r>
              <a:rPr lang="en-IN" dirty="0"/>
              <a:t>Input</a:t>
            </a:r>
          </a:p>
        </p:txBody>
      </p:sp>
      <p:sp>
        <p:nvSpPr>
          <p:cNvPr id="5" name="Text Placeholder 4">
            <a:extLst>
              <a:ext uri="{FF2B5EF4-FFF2-40B4-BE49-F238E27FC236}">
                <a16:creationId xmlns:a16="http://schemas.microsoft.com/office/drawing/2014/main" id="{F7AB6891-1D50-1C05-B4D7-08C232736DA4}"/>
              </a:ext>
            </a:extLst>
          </p:cNvPr>
          <p:cNvSpPr>
            <a:spLocks noGrp="1"/>
          </p:cNvSpPr>
          <p:nvPr>
            <p:ph type="body" sz="quarter" idx="3"/>
          </p:nvPr>
        </p:nvSpPr>
        <p:spPr/>
        <p:txBody>
          <a:bodyPr/>
          <a:lstStyle/>
          <a:p>
            <a:r>
              <a:rPr lang="en-IN" dirty="0"/>
              <a:t>Output</a:t>
            </a:r>
          </a:p>
        </p:txBody>
      </p:sp>
      <p:pic>
        <p:nvPicPr>
          <p:cNvPr id="10" name="Picture 9" descr="A screenshot of a computer&#10;&#10;AI-generated content may be incorrect.">
            <a:extLst>
              <a:ext uri="{FF2B5EF4-FFF2-40B4-BE49-F238E27FC236}">
                <a16:creationId xmlns:a16="http://schemas.microsoft.com/office/drawing/2014/main" id="{095CCDEB-E0BF-38D4-0CAF-3D347CB36C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2890" y="2916936"/>
            <a:ext cx="3252006" cy="3127247"/>
          </a:xfrm>
          <a:prstGeom prst="rect">
            <a:avLst/>
          </a:prstGeom>
        </p:spPr>
      </p:pic>
      <p:pic>
        <p:nvPicPr>
          <p:cNvPr id="13" name="Picture 12">
            <a:extLst>
              <a:ext uri="{FF2B5EF4-FFF2-40B4-BE49-F238E27FC236}">
                <a16:creationId xmlns:a16="http://schemas.microsoft.com/office/drawing/2014/main" id="{070E8289-60F3-EFB5-32B9-F250273F9E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788" y="3891508"/>
            <a:ext cx="3765901" cy="1178101"/>
          </a:xfrm>
          <a:prstGeom prst="rect">
            <a:avLst/>
          </a:prstGeom>
        </p:spPr>
      </p:pic>
    </p:spTree>
    <p:extLst>
      <p:ext uri="{BB962C8B-B14F-4D97-AF65-F5344CB8AC3E}">
        <p14:creationId xmlns:p14="http://schemas.microsoft.com/office/powerpoint/2010/main" val="2980361792"/>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D4675-4986-EF8A-F78E-00D4D443F581}"/>
            </a:ext>
          </a:extLst>
        </p:cNvPr>
        <p:cNvGrpSpPr/>
        <p:nvPr/>
      </p:nvGrpSpPr>
      <p:grpSpPr>
        <a:xfrm>
          <a:off x="0" y="0"/>
          <a:ext cx="0" cy="0"/>
          <a:chOff x="0" y="0"/>
          <a:chExt cx="0" cy="0"/>
        </a:xfrm>
      </p:grpSpPr>
      <p:sp>
        <p:nvSpPr>
          <p:cNvPr id="7" name="Rectangle 1">
            <a:extLst>
              <a:ext uri="{FF2B5EF4-FFF2-40B4-BE49-F238E27FC236}">
                <a16:creationId xmlns:a16="http://schemas.microsoft.com/office/drawing/2014/main" id="{AC8BF0BA-02A5-5975-C70D-2A368FE7B110}"/>
              </a:ext>
            </a:extLst>
          </p:cNvPr>
          <p:cNvSpPr>
            <a:spLocks noGrp="1" noChangeArrowheads="1"/>
          </p:cNvSpPr>
          <p:nvPr>
            <p:ph type="title"/>
          </p:nvPr>
        </p:nvSpPr>
        <p:spPr bwMode="auto">
          <a:xfrm>
            <a:off x="96210" y="281747"/>
            <a:ext cx="11790990" cy="7078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IN" sz="2000" b="1" i="0" dirty="0">
                <a:effectLst/>
                <a:latin typeface="__Inter_d65c78"/>
              </a:rPr>
              <a:t>Identifying High-Value Sales Transactions</a:t>
            </a:r>
            <a:br>
              <a:rPr lang="en-US" sz="1100" b="1" i="0" dirty="0">
                <a:solidFill>
                  <a:srgbClr val="111827"/>
                </a:solidFill>
                <a:effectLst/>
                <a:latin typeface="__Inter_d65c78"/>
              </a:rPr>
            </a:br>
            <a:r>
              <a:rPr kumimoji="0" lang="en-US" altLang="en-US" sz="2000" b="1" i="0" u="none" strike="noStrike" cap="none" normalizeH="0" baseline="0" dirty="0" err="1">
                <a:ln>
                  <a:noFill/>
                </a:ln>
                <a:solidFill>
                  <a:schemeClr val="tx1"/>
                </a:solidFill>
                <a:effectLst/>
                <a:latin typeface="__Inter_d65c78"/>
              </a:rPr>
              <a:t>Explanation:</a:t>
            </a:r>
            <a:r>
              <a:rPr lang="en-US" sz="1600" b="0" i="0" dirty="0" err="1">
                <a:solidFill>
                  <a:srgbClr val="374151"/>
                </a:solidFill>
                <a:effectLst/>
                <a:latin typeface="__Inter_d65c78"/>
              </a:rPr>
              <a:t>Retrieves</a:t>
            </a:r>
            <a:r>
              <a:rPr lang="en-US" sz="1600" b="0" i="0" dirty="0">
                <a:solidFill>
                  <a:srgbClr val="374151"/>
                </a:solidFill>
                <a:effectLst/>
                <a:latin typeface="__Inter_d65c78"/>
              </a:rPr>
              <a:t> the top 10 sales records ordered by amount using the LIMIT clause.</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 name="Text Placeholder 2">
            <a:extLst>
              <a:ext uri="{FF2B5EF4-FFF2-40B4-BE49-F238E27FC236}">
                <a16:creationId xmlns:a16="http://schemas.microsoft.com/office/drawing/2014/main" id="{CF339FF0-F3F7-AD3C-AC99-DD1E187632F7}"/>
              </a:ext>
            </a:extLst>
          </p:cNvPr>
          <p:cNvSpPr>
            <a:spLocks noGrp="1"/>
          </p:cNvSpPr>
          <p:nvPr>
            <p:ph type="body" idx="1"/>
          </p:nvPr>
        </p:nvSpPr>
        <p:spPr/>
        <p:txBody>
          <a:bodyPr/>
          <a:lstStyle/>
          <a:p>
            <a:r>
              <a:rPr lang="en-IN" dirty="0"/>
              <a:t>Input</a:t>
            </a:r>
          </a:p>
        </p:txBody>
      </p:sp>
      <p:sp>
        <p:nvSpPr>
          <p:cNvPr id="5" name="Text Placeholder 4">
            <a:extLst>
              <a:ext uri="{FF2B5EF4-FFF2-40B4-BE49-F238E27FC236}">
                <a16:creationId xmlns:a16="http://schemas.microsoft.com/office/drawing/2014/main" id="{20A091A6-166C-8608-FAC3-32EA699F0969}"/>
              </a:ext>
            </a:extLst>
          </p:cNvPr>
          <p:cNvSpPr>
            <a:spLocks noGrp="1"/>
          </p:cNvSpPr>
          <p:nvPr>
            <p:ph type="body" sz="quarter" idx="3"/>
          </p:nvPr>
        </p:nvSpPr>
        <p:spPr/>
        <p:txBody>
          <a:bodyPr/>
          <a:lstStyle/>
          <a:p>
            <a:r>
              <a:rPr lang="en-IN" dirty="0"/>
              <a:t>Output</a:t>
            </a:r>
          </a:p>
        </p:txBody>
      </p:sp>
      <p:pic>
        <p:nvPicPr>
          <p:cNvPr id="4" name="Picture 3" descr="A white background with black text&#10;&#10;AI-generated content may be incorrect.">
            <a:extLst>
              <a:ext uri="{FF2B5EF4-FFF2-40B4-BE49-F238E27FC236}">
                <a16:creationId xmlns:a16="http://schemas.microsoft.com/office/drawing/2014/main" id="{AA6D1EFC-5DA8-CCB4-7AB0-D0809DCF39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608" y="3550548"/>
            <a:ext cx="4181720" cy="1692179"/>
          </a:xfrm>
          <a:prstGeom prst="rect">
            <a:avLst/>
          </a:prstGeom>
        </p:spPr>
      </p:pic>
      <p:pic>
        <p:nvPicPr>
          <p:cNvPr id="10" name="Picture 9" descr="A screenshot of a data&#10;&#10;AI-generated content may be incorrect.">
            <a:extLst>
              <a:ext uri="{FF2B5EF4-FFF2-40B4-BE49-F238E27FC236}">
                <a16:creationId xmlns:a16="http://schemas.microsoft.com/office/drawing/2014/main" id="{AA424527-F054-CA75-982A-DA29F87AE0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2950261"/>
            <a:ext cx="5010912" cy="2892755"/>
          </a:xfrm>
          <a:prstGeom prst="rect">
            <a:avLst/>
          </a:prstGeom>
        </p:spPr>
      </p:pic>
    </p:spTree>
    <p:extLst>
      <p:ext uri="{BB962C8B-B14F-4D97-AF65-F5344CB8AC3E}">
        <p14:creationId xmlns:p14="http://schemas.microsoft.com/office/powerpoint/2010/main" val="79176266"/>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C471B-3362-F5AD-0E16-4F69573BFD7A}"/>
            </a:ext>
          </a:extLst>
        </p:cNvPr>
        <p:cNvGrpSpPr/>
        <p:nvPr/>
      </p:nvGrpSpPr>
      <p:grpSpPr>
        <a:xfrm>
          <a:off x="0" y="0"/>
          <a:ext cx="0" cy="0"/>
          <a:chOff x="0" y="0"/>
          <a:chExt cx="0" cy="0"/>
        </a:xfrm>
      </p:grpSpPr>
      <p:sp>
        <p:nvSpPr>
          <p:cNvPr id="7" name="Rectangle 1">
            <a:extLst>
              <a:ext uri="{FF2B5EF4-FFF2-40B4-BE49-F238E27FC236}">
                <a16:creationId xmlns:a16="http://schemas.microsoft.com/office/drawing/2014/main" id="{C4D05B3C-E235-CE4C-45C6-C568530500D1}"/>
              </a:ext>
            </a:extLst>
          </p:cNvPr>
          <p:cNvSpPr>
            <a:spLocks noGrp="1" noChangeArrowheads="1"/>
          </p:cNvSpPr>
          <p:nvPr>
            <p:ph type="title"/>
          </p:nvPr>
        </p:nvSpPr>
        <p:spPr bwMode="auto">
          <a:xfrm>
            <a:off x="136402" y="90169"/>
            <a:ext cx="12055597" cy="10156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IN" sz="2000" b="1" i="0" dirty="0">
                <a:effectLst/>
                <a:latin typeface="__Inter_d65c78"/>
              </a:rPr>
              <a:t>TOTAL Salesperson Count by Team:</a:t>
            </a:r>
            <a:br>
              <a:rPr kumimoji="0" lang="en-US" altLang="en-US" sz="2000" b="1" i="0" u="none" strike="noStrike" cap="none" normalizeH="0" baseline="0" dirty="0">
                <a:ln>
                  <a:noFill/>
                </a:ln>
                <a:solidFill>
                  <a:schemeClr val="tx1"/>
                </a:solidFill>
                <a:effectLst/>
                <a:latin typeface="__Inter_d65c78"/>
              </a:rPr>
            </a:br>
            <a:r>
              <a:rPr kumimoji="0" lang="en-US" altLang="en-US" sz="2000" b="1" i="0" u="none" strike="noStrike" cap="none" normalizeH="0" baseline="0" dirty="0">
                <a:ln>
                  <a:noFill/>
                </a:ln>
                <a:solidFill>
                  <a:schemeClr val="tx1"/>
                </a:solidFill>
                <a:effectLst/>
                <a:latin typeface="__Inter_d65c78"/>
              </a:rPr>
              <a:t>Explanation: </a:t>
            </a:r>
            <a:r>
              <a:rPr kumimoji="0" lang="en-US" altLang="en-US" sz="1800" b="0" i="0" u="none" strike="noStrike" cap="none" normalizeH="0" baseline="0" dirty="0">
                <a:ln>
                  <a:noFill/>
                </a:ln>
                <a:solidFill>
                  <a:schemeClr val="tx1"/>
                </a:solidFill>
                <a:effectLst/>
                <a:latin typeface="__Inter_d65c78"/>
              </a:rPr>
              <a:t>This query calculates total number of salespersons in each team from the ‘people’ table</a:t>
            </a:r>
          </a:p>
        </p:txBody>
      </p:sp>
      <p:sp>
        <p:nvSpPr>
          <p:cNvPr id="3" name="Text Placeholder 2">
            <a:extLst>
              <a:ext uri="{FF2B5EF4-FFF2-40B4-BE49-F238E27FC236}">
                <a16:creationId xmlns:a16="http://schemas.microsoft.com/office/drawing/2014/main" id="{E3FF8915-F9C6-D80B-2A56-42BA09514B75}"/>
              </a:ext>
            </a:extLst>
          </p:cNvPr>
          <p:cNvSpPr>
            <a:spLocks noGrp="1"/>
          </p:cNvSpPr>
          <p:nvPr>
            <p:ph type="body" idx="1"/>
          </p:nvPr>
        </p:nvSpPr>
        <p:spPr/>
        <p:txBody>
          <a:bodyPr/>
          <a:lstStyle/>
          <a:p>
            <a:r>
              <a:rPr lang="en-IN" dirty="0"/>
              <a:t>Input</a:t>
            </a:r>
          </a:p>
        </p:txBody>
      </p:sp>
      <p:sp>
        <p:nvSpPr>
          <p:cNvPr id="5" name="Text Placeholder 4">
            <a:extLst>
              <a:ext uri="{FF2B5EF4-FFF2-40B4-BE49-F238E27FC236}">
                <a16:creationId xmlns:a16="http://schemas.microsoft.com/office/drawing/2014/main" id="{D4069F4B-684F-DC92-77B7-1347920D07AB}"/>
              </a:ext>
            </a:extLst>
          </p:cNvPr>
          <p:cNvSpPr>
            <a:spLocks noGrp="1"/>
          </p:cNvSpPr>
          <p:nvPr>
            <p:ph type="body" sz="quarter" idx="3"/>
          </p:nvPr>
        </p:nvSpPr>
        <p:spPr/>
        <p:txBody>
          <a:bodyPr/>
          <a:lstStyle/>
          <a:p>
            <a:r>
              <a:rPr lang="en-IN" dirty="0"/>
              <a:t>Output</a:t>
            </a:r>
          </a:p>
        </p:txBody>
      </p:sp>
      <p:pic>
        <p:nvPicPr>
          <p:cNvPr id="6" name="Picture 5">
            <a:extLst>
              <a:ext uri="{FF2B5EF4-FFF2-40B4-BE49-F238E27FC236}">
                <a16:creationId xmlns:a16="http://schemas.microsoft.com/office/drawing/2014/main" id="{DCB66653-4A35-158A-E4DF-EC080D20FB84}"/>
              </a:ext>
            </a:extLst>
          </p:cNvPr>
          <p:cNvPicPr>
            <a:picLocks noChangeAspect="1"/>
          </p:cNvPicPr>
          <p:nvPr/>
        </p:nvPicPr>
        <p:blipFill>
          <a:blip r:embed="rId2"/>
          <a:stretch>
            <a:fillRect/>
          </a:stretch>
        </p:blipFill>
        <p:spPr>
          <a:xfrm>
            <a:off x="903796" y="3593592"/>
            <a:ext cx="3346801" cy="1389887"/>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1B6BE917-6A0B-4D23-A19F-191D20A3CE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3200400"/>
            <a:ext cx="3675888" cy="2176272"/>
          </a:xfrm>
          <a:prstGeom prst="rect">
            <a:avLst/>
          </a:prstGeom>
        </p:spPr>
      </p:pic>
    </p:spTree>
    <p:extLst>
      <p:ext uri="{BB962C8B-B14F-4D97-AF65-F5344CB8AC3E}">
        <p14:creationId xmlns:p14="http://schemas.microsoft.com/office/powerpoint/2010/main" val="543719677"/>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3F5B3-558E-3050-D9E2-3FAA84D67607}"/>
            </a:ext>
          </a:extLst>
        </p:cNvPr>
        <p:cNvGrpSpPr/>
        <p:nvPr/>
      </p:nvGrpSpPr>
      <p:grpSpPr>
        <a:xfrm>
          <a:off x="0" y="0"/>
          <a:ext cx="0" cy="0"/>
          <a:chOff x="0" y="0"/>
          <a:chExt cx="0" cy="0"/>
        </a:xfrm>
      </p:grpSpPr>
      <p:sp>
        <p:nvSpPr>
          <p:cNvPr id="7" name="Rectangle 1">
            <a:extLst>
              <a:ext uri="{FF2B5EF4-FFF2-40B4-BE49-F238E27FC236}">
                <a16:creationId xmlns:a16="http://schemas.microsoft.com/office/drawing/2014/main" id="{AB3804C3-6D6B-8C08-C1A1-606CA304DB9E}"/>
              </a:ext>
            </a:extLst>
          </p:cNvPr>
          <p:cNvSpPr>
            <a:spLocks noGrp="1" noChangeArrowheads="1"/>
          </p:cNvSpPr>
          <p:nvPr>
            <p:ph type="title"/>
          </p:nvPr>
        </p:nvSpPr>
        <p:spPr bwMode="auto">
          <a:xfrm>
            <a:off x="246937" y="295999"/>
            <a:ext cx="10407332" cy="9848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sz="2000" b="1" i="0" dirty="0">
                <a:effectLst/>
                <a:latin typeface="__Inter_d65c78"/>
              </a:rPr>
              <a:t>Identifying High-Performing Products by Sales Volume</a:t>
            </a:r>
            <a:br>
              <a:rPr lang="en-US" sz="1100" b="1" i="0" dirty="0">
                <a:solidFill>
                  <a:srgbClr val="111827"/>
                </a:solidFill>
                <a:effectLst/>
                <a:latin typeface="__Inter_d65c78"/>
              </a:rPr>
            </a:br>
            <a:r>
              <a:rPr kumimoji="0" lang="en-US" altLang="en-US" sz="2000" b="1" i="0" u="none" strike="noStrike" cap="none" normalizeH="0" baseline="0" dirty="0" err="1">
                <a:ln>
                  <a:noFill/>
                </a:ln>
                <a:solidFill>
                  <a:schemeClr val="tx1"/>
                </a:solidFill>
                <a:effectLst/>
                <a:latin typeface="__Inter_d65c78"/>
              </a:rPr>
              <a:t>Explanation:</a:t>
            </a:r>
            <a:r>
              <a:rPr lang="en-US" sz="1600" b="0" i="0" dirty="0" err="1">
                <a:effectLst/>
                <a:latin typeface="__Inter_d65c78"/>
              </a:rPr>
              <a:t>Filters</a:t>
            </a:r>
            <a:r>
              <a:rPr lang="en-US" sz="1600" b="0" i="0" dirty="0">
                <a:effectLst/>
                <a:latin typeface="__Inter_d65c78"/>
              </a:rPr>
              <a:t> products with total sales greater than $20,000 using GROUP BY and HAVING clauses.</a:t>
            </a:r>
            <a:endParaRPr kumimoji="0" lang="en-US" altLang="en-US" sz="1600" b="0" i="0" u="none" strike="noStrike" cap="none" normalizeH="0" baseline="0" dirty="0">
              <a:ln>
                <a:noFill/>
              </a:ln>
              <a:effectLst/>
              <a:latin typeface="__Inter_d65c78"/>
            </a:endParaRPr>
          </a:p>
        </p:txBody>
      </p:sp>
      <p:sp>
        <p:nvSpPr>
          <p:cNvPr id="3" name="Text Placeholder 2">
            <a:extLst>
              <a:ext uri="{FF2B5EF4-FFF2-40B4-BE49-F238E27FC236}">
                <a16:creationId xmlns:a16="http://schemas.microsoft.com/office/drawing/2014/main" id="{8D28E418-04AF-CEE7-32F0-D79752E41885}"/>
              </a:ext>
            </a:extLst>
          </p:cNvPr>
          <p:cNvSpPr>
            <a:spLocks noGrp="1"/>
          </p:cNvSpPr>
          <p:nvPr>
            <p:ph type="body" idx="1"/>
          </p:nvPr>
        </p:nvSpPr>
        <p:spPr/>
        <p:txBody>
          <a:bodyPr/>
          <a:lstStyle/>
          <a:p>
            <a:r>
              <a:rPr lang="en-IN" dirty="0"/>
              <a:t>Input</a:t>
            </a:r>
          </a:p>
        </p:txBody>
      </p:sp>
      <p:sp>
        <p:nvSpPr>
          <p:cNvPr id="5" name="Text Placeholder 4">
            <a:extLst>
              <a:ext uri="{FF2B5EF4-FFF2-40B4-BE49-F238E27FC236}">
                <a16:creationId xmlns:a16="http://schemas.microsoft.com/office/drawing/2014/main" id="{4AF7D984-62E0-71CF-8212-A1D395FC3604}"/>
              </a:ext>
            </a:extLst>
          </p:cNvPr>
          <p:cNvSpPr>
            <a:spLocks noGrp="1"/>
          </p:cNvSpPr>
          <p:nvPr>
            <p:ph type="body" sz="quarter" idx="3"/>
          </p:nvPr>
        </p:nvSpPr>
        <p:spPr/>
        <p:txBody>
          <a:bodyPr/>
          <a:lstStyle/>
          <a:p>
            <a:r>
              <a:rPr lang="en-IN" dirty="0"/>
              <a:t>Output</a:t>
            </a:r>
          </a:p>
        </p:txBody>
      </p:sp>
      <p:pic>
        <p:nvPicPr>
          <p:cNvPr id="11" name="Picture 10">
            <a:extLst>
              <a:ext uri="{FF2B5EF4-FFF2-40B4-BE49-F238E27FC236}">
                <a16:creationId xmlns:a16="http://schemas.microsoft.com/office/drawing/2014/main" id="{D8E60D2A-33A2-4B5C-21F0-038CA7AFD0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788" y="3939178"/>
            <a:ext cx="3348164" cy="1336357"/>
          </a:xfrm>
          <a:prstGeom prst="rect">
            <a:avLst/>
          </a:prstGeom>
        </p:spPr>
      </p:pic>
      <p:pic>
        <p:nvPicPr>
          <p:cNvPr id="15" name="Picture 14">
            <a:extLst>
              <a:ext uri="{FF2B5EF4-FFF2-40B4-BE49-F238E27FC236}">
                <a16:creationId xmlns:a16="http://schemas.microsoft.com/office/drawing/2014/main" id="{F16ECC04-9F6F-1158-2714-F0ED7DC3F0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3052267"/>
            <a:ext cx="1984248" cy="3110178"/>
          </a:xfrm>
          <a:prstGeom prst="rect">
            <a:avLst/>
          </a:prstGeom>
        </p:spPr>
      </p:pic>
    </p:spTree>
    <p:extLst>
      <p:ext uri="{BB962C8B-B14F-4D97-AF65-F5344CB8AC3E}">
        <p14:creationId xmlns:p14="http://schemas.microsoft.com/office/powerpoint/2010/main" val="1650325183"/>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019DA-5F70-9418-64A3-D48C64ECCF28}"/>
            </a:ext>
          </a:extLst>
        </p:cNvPr>
        <p:cNvGrpSpPr/>
        <p:nvPr/>
      </p:nvGrpSpPr>
      <p:grpSpPr>
        <a:xfrm>
          <a:off x="0" y="0"/>
          <a:ext cx="0" cy="0"/>
          <a:chOff x="0" y="0"/>
          <a:chExt cx="0" cy="0"/>
        </a:xfrm>
      </p:grpSpPr>
      <p:sp>
        <p:nvSpPr>
          <p:cNvPr id="7" name="Rectangle 1">
            <a:extLst>
              <a:ext uri="{FF2B5EF4-FFF2-40B4-BE49-F238E27FC236}">
                <a16:creationId xmlns:a16="http://schemas.microsoft.com/office/drawing/2014/main" id="{59112E4E-F062-FCB9-F4AC-5BEAE2224A98}"/>
              </a:ext>
            </a:extLst>
          </p:cNvPr>
          <p:cNvSpPr>
            <a:spLocks noGrp="1" noChangeArrowheads="1"/>
          </p:cNvSpPr>
          <p:nvPr>
            <p:ph type="title"/>
          </p:nvPr>
        </p:nvSpPr>
        <p:spPr bwMode="auto">
          <a:xfrm>
            <a:off x="0" y="308790"/>
            <a:ext cx="12058022"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l">
              <a:buNone/>
            </a:pPr>
            <a:r>
              <a:rPr lang="en-US" sz="2000" b="1" i="0" dirty="0">
                <a:solidFill>
                  <a:srgbClr val="09090B"/>
                </a:solidFill>
                <a:effectLst/>
                <a:latin typeface="__Inter_d65c78"/>
              </a:rPr>
              <a:t>Finding the product with the highest cost per box.</a:t>
            </a:r>
            <a:br>
              <a:rPr lang="en-US" sz="1100" dirty="0"/>
            </a:br>
            <a:r>
              <a:rPr kumimoji="0" lang="en-US" altLang="en-US" sz="2000" b="1" i="0" u="none" strike="noStrike" cap="none" normalizeH="0" baseline="0" dirty="0" err="1">
                <a:ln>
                  <a:noFill/>
                </a:ln>
                <a:solidFill>
                  <a:schemeClr val="tx1"/>
                </a:solidFill>
                <a:effectLst/>
                <a:latin typeface="__Inter_d65c78"/>
              </a:rPr>
              <a:t>Explanation:</a:t>
            </a:r>
            <a:r>
              <a:rPr lang="en-US" sz="1600" b="0" i="0" dirty="0" err="1">
                <a:effectLst/>
                <a:latin typeface="__Inter_d65c78"/>
              </a:rPr>
              <a:t>query</a:t>
            </a:r>
            <a:r>
              <a:rPr lang="en-US" sz="1600" b="0" i="0" dirty="0">
                <a:effectLst/>
                <a:latin typeface="__Inter_d65c78"/>
              </a:rPr>
              <a:t> retrieves the record of product having highest </a:t>
            </a:r>
            <a:r>
              <a:rPr lang="en-US" sz="1600" b="0" i="0" dirty="0" err="1">
                <a:effectLst/>
                <a:latin typeface="__Inter_d65c78"/>
              </a:rPr>
              <a:t>cost_per_box</a:t>
            </a:r>
            <a:endParaRPr kumimoji="0" lang="en-US" altLang="en-US" sz="1600" i="0" u="none" strike="noStrike" cap="none" normalizeH="0" baseline="0" dirty="0">
              <a:ln>
                <a:noFill/>
              </a:ln>
              <a:effectLst/>
              <a:latin typeface="__Inter_d65c78"/>
            </a:endParaRPr>
          </a:p>
        </p:txBody>
      </p:sp>
      <p:sp>
        <p:nvSpPr>
          <p:cNvPr id="3" name="Text Placeholder 2">
            <a:extLst>
              <a:ext uri="{FF2B5EF4-FFF2-40B4-BE49-F238E27FC236}">
                <a16:creationId xmlns:a16="http://schemas.microsoft.com/office/drawing/2014/main" id="{BEF25EC6-D623-9E8C-133E-5CEA23639F83}"/>
              </a:ext>
            </a:extLst>
          </p:cNvPr>
          <p:cNvSpPr>
            <a:spLocks noGrp="1"/>
          </p:cNvSpPr>
          <p:nvPr>
            <p:ph type="body" idx="1"/>
          </p:nvPr>
        </p:nvSpPr>
        <p:spPr/>
        <p:txBody>
          <a:bodyPr/>
          <a:lstStyle/>
          <a:p>
            <a:r>
              <a:rPr lang="en-IN" dirty="0"/>
              <a:t>Input</a:t>
            </a:r>
          </a:p>
        </p:txBody>
      </p:sp>
      <p:sp>
        <p:nvSpPr>
          <p:cNvPr id="5" name="Text Placeholder 4">
            <a:extLst>
              <a:ext uri="{FF2B5EF4-FFF2-40B4-BE49-F238E27FC236}">
                <a16:creationId xmlns:a16="http://schemas.microsoft.com/office/drawing/2014/main" id="{0FADC7C0-8037-4E97-EB9F-DC4956798B01}"/>
              </a:ext>
            </a:extLst>
          </p:cNvPr>
          <p:cNvSpPr>
            <a:spLocks noGrp="1"/>
          </p:cNvSpPr>
          <p:nvPr>
            <p:ph type="body" sz="quarter" idx="3"/>
          </p:nvPr>
        </p:nvSpPr>
        <p:spPr/>
        <p:txBody>
          <a:bodyPr/>
          <a:lstStyle/>
          <a:p>
            <a:r>
              <a:rPr lang="en-IN" dirty="0"/>
              <a:t>Output</a:t>
            </a:r>
          </a:p>
        </p:txBody>
      </p:sp>
      <p:pic>
        <p:nvPicPr>
          <p:cNvPr id="12" name="Picture 11">
            <a:extLst>
              <a:ext uri="{FF2B5EF4-FFF2-40B4-BE49-F238E27FC236}">
                <a16:creationId xmlns:a16="http://schemas.microsoft.com/office/drawing/2014/main" id="{FD4E06EA-B4BF-D0EA-B9B9-CFE91FA87F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788" y="3365136"/>
            <a:ext cx="3942524" cy="1811701"/>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4D8E9E1F-EAA3-28D9-7F1D-70FF04AF03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3778706"/>
            <a:ext cx="3211004" cy="1112288"/>
          </a:xfrm>
          <a:prstGeom prst="rect">
            <a:avLst/>
          </a:prstGeom>
        </p:spPr>
      </p:pic>
    </p:spTree>
    <p:extLst>
      <p:ext uri="{BB962C8B-B14F-4D97-AF65-F5344CB8AC3E}">
        <p14:creationId xmlns:p14="http://schemas.microsoft.com/office/powerpoint/2010/main" val="2116257503"/>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09D74-0D14-8952-903C-B8E9DD3DBF7A}"/>
            </a:ext>
          </a:extLst>
        </p:cNvPr>
        <p:cNvGrpSpPr/>
        <p:nvPr/>
      </p:nvGrpSpPr>
      <p:grpSpPr>
        <a:xfrm>
          <a:off x="0" y="0"/>
          <a:ext cx="0" cy="0"/>
          <a:chOff x="0" y="0"/>
          <a:chExt cx="0" cy="0"/>
        </a:xfrm>
      </p:grpSpPr>
      <p:sp>
        <p:nvSpPr>
          <p:cNvPr id="7" name="Rectangle 1">
            <a:extLst>
              <a:ext uri="{FF2B5EF4-FFF2-40B4-BE49-F238E27FC236}">
                <a16:creationId xmlns:a16="http://schemas.microsoft.com/office/drawing/2014/main" id="{CA3FAA95-93F1-53C5-93E3-F4D7B3D8C921}"/>
              </a:ext>
            </a:extLst>
          </p:cNvPr>
          <p:cNvSpPr>
            <a:spLocks noGrp="1" noChangeArrowheads="1"/>
          </p:cNvSpPr>
          <p:nvPr>
            <p:ph type="title"/>
          </p:nvPr>
        </p:nvSpPr>
        <p:spPr bwMode="auto">
          <a:xfrm>
            <a:off x="81048" y="533928"/>
            <a:ext cx="12110952"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sz="1800" b="1" dirty="0">
                <a:solidFill>
                  <a:srgbClr val="111827"/>
                </a:solidFill>
                <a:latin typeface="__Inter_d65c78"/>
              </a:rPr>
              <a:t>Retrieving</a:t>
            </a:r>
            <a:r>
              <a:rPr lang="en-US" sz="1800" b="1" i="0" dirty="0">
                <a:solidFill>
                  <a:srgbClr val="111827"/>
                </a:solidFill>
                <a:effectLst/>
                <a:latin typeface="__Inter_d65c78"/>
              </a:rPr>
              <a:t> sales records for the salesperson "Barr </a:t>
            </a:r>
            <a:r>
              <a:rPr lang="en-US" sz="1800" b="1" i="0" dirty="0" err="1">
                <a:solidFill>
                  <a:srgbClr val="111827"/>
                </a:solidFill>
                <a:effectLst/>
                <a:latin typeface="__Inter_d65c78"/>
              </a:rPr>
              <a:t>Faughny</a:t>
            </a:r>
            <a:r>
              <a:rPr lang="en-US" sz="1800" b="1" i="0" dirty="0">
                <a:solidFill>
                  <a:srgbClr val="111827"/>
                </a:solidFill>
                <a:effectLst/>
                <a:latin typeface="__Inter_d65c78"/>
              </a:rPr>
              <a:t>" in the "BARS" category, ordered by sales amount</a:t>
            </a:r>
            <a:endParaRPr kumimoji="0" lang="en-US" altLang="en-US" sz="1600" i="0" u="none" strike="noStrike" cap="none" normalizeH="0" baseline="0" dirty="0">
              <a:ln>
                <a:noFill/>
              </a:ln>
              <a:effectLst/>
              <a:latin typeface="Arial" panose="020B0604020202020204" pitchFamily="34" charset="0"/>
            </a:endParaRPr>
          </a:p>
        </p:txBody>
      </p:sp>
      <p:sp>
        <p:nvSpPr>
          <p:cNvPr id="3" name="Text Placeholder 2">
            <a:extLst>
              <a:ext uri="{FF2B5EF4-FFF2-40B4-BE49-F238E27FC236}">
                <a16:creationId xmlns:a16="http://schemas.microsoft.com/office/drawing/2014/main" id="{4D19F2CD-AC00-4FE2-74D3-9DE11EFECA21}"/>
              </a:ext>
            </a:extLst>
          </p:cNvPr>
          <p:cNvSpPr>
            <a:spLocks noGrp="1"/>
          </p:cNvSpPr>
          <p:nvPr>
            <p:ph type="body" idx="1"/>
          </p:nvPr>
        </p:nvSpPr>
        <p:spPr/>
        <p:txBody>
          <a:bodyPr/>
          <a:lstStyle/>
          <a:p>
            <a:r>
              <a:rPr lang="en-IN" dirty="0"/>
              <a:t>Input</a:t>
            </a:r>
          </a:p>
        </p:txBody>
      </p:sp>
      <p:sp>
        <p:nvSpPr>
          <p:cNvPr id="5" name="Text Placeholder 4">
            <a:extLst>
              <a:ext uri="{FF2B5EF4-FFF2-40B4-BE49-F238E27FC236}">
                <a16:creationId xmlns:a16="http://schemas.microsoft.com/office/drawing/2014/main" id="{3890EDCE-853C-D5EE-9F25-F6F1E266363F}"/>
              </a:ext>
            </a:extLst>
          </p:cNvPr>
          <p:cNvSpPr>
            <a:spLocks noGrp="1"/>
          </p:cNvSpPr>
          <p:nvPr>
            <p:ph type="body" sz="quarter" idx="3"/>
          </p:nvPr>
        </p:nvSpPr>
        <p:spPr/>
        <p:txBody>
          <a:bodyPr/>
          <a:lstStyle/>
          <a:p>
            <a:r>
              <a:rPr lang="en-IN" dirty="0"/>
              <a:t>Output</a:t>
            </a:r>
          </a:p>
        </p:txBody>
      </p:sp>
      <p:pic>
        <p:nvPicPr>
          <p:cNvPr id="11" name="Picture 10" descr="A screenshot of a computer program&#10;&#10;AI-generated content may be incorrect.">
            <a:extLst>
              <a:ext uri="{FF2B5EF4-FFF2-40B4-BE49-F238E27FC236}">
                <a16:creationId xmlns:a16="http://schemas.microsoft.com/office/drawing/2014/main" id="{CE891140-EBCD-6FFC-B4DC-7CB9F28CC2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788" y="3194243"/>
            <a:ext cx="4335716" cy="1982594"/>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8D159009-120A-44AC-108A-2DBB5C1CCE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7575" y="3329144"/>
            <a:ext cx="5354637" cy="1425736"/>
          </a:xfrm>
          <a:prstGeom prst="rect">
            <a:avLst/>
          </a:prstGeom>
        </p:spPr>
      </p:pic>
    </p:spTree>
    <p:extLst>
      <p:ext uri="{BB962C8B-B14F-4D97-AF65-F5344CB8AC3E}">
        <p14:creationId xmlns:p14="http://schemas.microsoft.com/office/powerpoint/2010/main" val="3344737140"/>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22FD6-E7A3-33DF-B903-BC96AB0DF72A}"/>
            </a:ext>
          </a:extLst>
        </p:cNvPr>
        <p:cNvGrpSpPr/>
        <p:nvPr/>
      </p:nvGrpSpPr>
      <p:grpSpPr>
        <a:xfrm>
          <a:off x="0" y="0"/>
          <a:ext cx="0" cy="0"/>
          <a:chOff x="0" y="0"/>
          <a:chExt cx="0" cy="0"/>
        </a:xfrm>
      </p:grpSpPr>
      <p:sp>
        <p:nvSpPr>
          <p:cNvPr id="7" name="Rectangle 1">
            <a:extLst>
              <a:ext uri="{FF2B5EF4-FFF2-40B4-BE49-F238E27FC236}">
                <a16:creationId xmlns:a16="http://schemas.microsoft.com/office/drawing/2014/main" id="{DD735563-B04D-9860-7113-317911A3F2F7}"/>
              </a:ext>
            </a:extLst>
          </p:cNvPr>
          <p:cNvSpPr>
            <a:spLocks noGrp="1" noChangeArrowheads="1"/>
          </p:cNvSpPr>
          <p:nvPr>
            <p:ph type="title"/>
          </p:nvPr>
        </p:nvSpPr>
        <p:spPr bwMode="auto">
          <a:xfrm>
            <a:off x="0" y="257973"/>
            <a:ext cx="12192000"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sz="2000" b="1" i="0" dirty="0">
                <a:effectLst/>
                <a:latin typeface="__Inter_d65c78"/>
              </a:rPr>
              <a:t>Streamlined Data Entry: Adding a New Salesperson via Stored Procedure</a:t>
            </a:r>
            <a:br>
              <a:rPr kumimoji="0" lang="en-US" altLang="en-US" sz="2000" b="1" i="0" u="none" strike="noStrike" cap="none" normalizeH="0" baseline="0" dirty="0">
                <a:ln>
                  <a:noFill/>
                </a:ln>
                <a:solidFill>
                  <a:schemeClr val="tx1"/>
                </a:solidFill>
                <a:effectLst/>
                <a:latin typeface="__Inter_d65c78"/>
              </a:rPr>
            </a:br>
            <a:r>
              <a:rPr kumimoji="0" lang="en-US" altLang="en-US" sz="2000" b="1" i="0" u="none" strike="noStrike" cap="none" normalizeH="0" baseline="0" dirty="0">
                <a:ln>
                  <a:noFill/>
                </a:ln>
                <a:solidFill>
                  <a:schemeClr val="tx1"/>
                </a:solidFill>
                <a:effectLst/>
                <a:latin typeface="__Inter_d65c78"/>
              </a:rPr>
              <a:t>Explanation: </a:t>
            </a:r>
            <a:r>
              <a:rPr lang="en-US" sz="1400" b="0" i="0" dirty="0">
                <a:effectLst/>
                <a:latin typeface="__Inter_d65c78"/>
              </a:rPr>
              <a:t>Creates a stored procedure to insert a new salesperson into the "people" table, enhancing data management efficiency.</a:t>
            </a:r>
            <a:endParaRPr kumimoji="0" lang="en-US" altLang="en-US" sz="1400" b="0" i="0" u="none" strike="noStrike" cap="none" normalizeH="0" baseline="0" dirty="0">
              <a:ln>
                <a:noFill/>
              </a:ln>
              <a:effectLst/>
              <a:latin typeface="__Inter_d65c78"/>
            </a:endParaRPr>
          </a:p>
        </p:txBody>
      </p:sp>
      <p:sp>
        <p:nvSpPr>
          <p:cNvPr id="3" name="Text Placeholder 2">
            <a:extLst>
              <a:ext uri="{FF2B5EF4-FFF2-40B4-BE49-F238E27FC236}">
                <a16:creationId xmlns:a16="http://schemas.microsoft.com/office/drawing/2014/main" id="{F6093A81-33E6-A402-C039-4E37F0F9F688}"/>
              </a:ext>
            </a:extLst>
          </p:cNvPr>
          <p:cNvSpPr>
            <a:spLocks noGrp="1"/>
          </p:cNvSpPr>
          <p:nvPr>
            <p:ph type="body" idx="1"/>
          </p:nvPr>
        </p:nvSpPr>
        <p:spPr/>
        <p:txBody>
          <a:bodyPr/>
          <a:lstStyle/>
          <a:p>
            <a:r>
              <a:rPr lang="en-IN" dirty="0"/>
              <a:t>Input</a:t>
            </a:r>
          </a:p>
        </p:txBody>
      </p:sp>
      <p:sp>
        <p:nvSpPr>
          <p:cNvPr id="5" name="Text Placeholder 4">
            <a:extLst>
              <a:ext uri="{FF2B5EF4-FFF2-40B4-BE49-F238E27FC236}">
                <a16:creationId xmlns:a16="http://schemas.microsoft.com/office/drawing/2014/main" id="{3EC54BD6-5B56-DEF8-32D3-0AFFD5B9AC87}"/>
              </a:ext>
            </a:extLst>
          </p:cNvPr>
          <p:cNvSpPr>
            <a:spLocks noGrp="1"/>
          </p:cNvSpPr>
          <p:nvPr>
            <p:ph type="body" sz="quarter" idx="3"/>
          </p:nvPr>
        </p:nvSpPr>
        <p:spPr/>
        <p:txBody>
          <a:bodyPr/>
          <a:lstStyle/>
          <a:p>
            <a:r>
              <a:rPr lang="en-IN" dirty="0"/>
              <a:t>Output</a:t>
            </a:r>
          </a:p>
        </p:txBody>
      </p:sp>
      <p:pic>
        <p:nvPicPr>
          <p:cNvPr id="4" name="Picture 3" descr="A computer screen shot of a computer code&#10;&#10;AI-generated content may be incorrect.">
            <a:extLst>
              <a:ext uri="{FF2B5EF4-FFF2-40B4-BE49-F238E27FC236}">
                <a16:creationId xmlns:a16="http://schemas.microsoft.com/office/drawing/2014/main" id="{F222BF7E-6EC0-0A05-5966-3E7F4710C5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356" y="2885279"/>
            <a:ext cx="4848043" cy="3175910"/>
          </a:xfrm>
          <a:prstGeom prst="rect">
            <a:avLst/>
          </a:prstGeom>
        </p:spPr>
      </p:pic>
      <p:pic>
        <p:nvPicPr>
          <p:cNvPr id="6" name="Picture 5">
            <a:extLst>
              <a:ext uri="{FF2B5EF4-FFF2-40B4-BE49-F238E27FC236}">
                <a16:creationId xmlns:a16="http://schemas.microsoft.com/office/drawing/2014/main" id="{6092D62B-E2C9-A706-2528-809D72C0BE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2885279"/>
            <a:ext cx="4983480" cy="3175910"/>
          </a:xfrm>
          <a:prstGeom prst="rect">
            <a:avLst/>
          </a:prstGeom>
        </p:spPr>
      </p:pic>
    </p:spTree>
    <p:extLst>
      <p:ext uri="{BB962C8B-B14F-4D97-AF65-F5344CB8AC3E}">
        <p14:creationId xmlns:p14="http://schemas.microsoft.com/office/powerpoint/2010/main" val="2162076995"/>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0388C-E836-87CA-4D3B-2E0A38EB2247}"/>
              </a:ext>
            </a:extLst>
          </p:cNvPr>
          <p:cNvSpPr>
            <a:spLocks noGrp="1"/>
          </p:cNvSpPr>
          <p:nvPr>
            <p:ph type="title"/>
          </p:nvPr>
        </p:nvSpPr>
        <p:spPr>
          <a:xfrm>
            <a:off x="176596" y="277261"/>
            <a:ext cx="10515600" cy="1325563"/>
          </a:xfrm>
        </p:spPr>
        <p:txBody>
          <a:bodyPr>
            <a:normAutofit fontScale="90000"/>
          </a:bodyPr>
          <a:lstStyle/>
          <a:p>
            <a:pPr algn="l"/>
            <a:r>
              <a:rPr lang="en-US" sz="2000" b="1" i="0" dirty="0">
                <a:solidFill>
                  <a:schemeClr val="tx1"/>
                </a:solidFill>
                <a:effectLst/>
                <a:latin typeface="__Inter_d65c78"/>
              </a:rPr>
              <a:t>Efficient Data Analysis: Average Sales Calculation by Region by creating a stored function</a:t>
            </a:r>
            <a:br>
              <a:rPr lang="en-US" sz="1100" b="1" i="0" dirty="0">
                <a:solidFill>
                  <a:srgbClr val="111827"/>
                </a:solidFill>
                <a:effectLst/>
                <a:latin typeface="__Inter_d65c78"/>
              </a:rPr>
            </a:br>
            <a:r>
              <a:rPr lang="en-US" sz="2000" b="1" i="0" dirty="0">
                <a:solidFill>
                  <a:srgbClr val="111827"/>
                </a:solidFill>
                <a:effectLst/>
                <a:latin typeface="__Inter_d65c78"/>
              </a:rPr>
              <a:t>Explanation</a:t>
            </a:r>
            <a:r>
              <a:rPr lang="en-US" sz="1800" b="1" i="0" dirty="0">
                <a:solidFill>
                  <a:srgbClr val="111827"/>
                </a:solidFill>
                <a:effectLst/>
                <a:latin typeface="__Inter_d65c78"/>
              </a:rPr>
              <a:t>: </a:t>
            </a:r>
            <a:r>
              <a:rPr lang="en-US" sz="1800" b="0" i="0" dirty="0">
                <a:solidFill>
                  <a:schemeClr val="tx1"/>
                </a:solidFill>
                <a:effectLst/>
                <a:latin typeface="__Inter_d65c78"/>
              </a:rPr>
              <a:t>Defines a function to calculate average sales for a given region, improving data analysis efficiency.</a:t>
            </a:r>
            <a:endParaRPr lang="en-IN" sz="1800" b="1" dirty="0">
              <a:solidFill>
                <a:schemeClr val="tx1"/>
              </a:solidFill>
            </a:endParaRPr>
          </a:p>
        </p:txBody>
      </p:sp>
      <p:sp>
        <p:nvSpPr>
          <p:cNvPr id="3" name="Text Placeholder 2">
            <a:extLst>
              <a:ext uri="{FF2B5EF4-FFF2-40B4-BE49-F238E27FC236}">
                <a16:creationId xmlns:a16="http://schemas.microsoft.com/office/drawing/2014/main" id="{2C68C351-D94C-273E-2ECD-F62BE33E92C6}"/>
              </a:ext>
            </a:extLst>
          </p:cNvPr>
          <p:cNvSpPr>
            <a:spLocks noGrp="1"/>
          </p:cNvSpPr>
          <p:nvPr>
            <p:ph type="body" idx="1"/>
          </p:nvPr>
        </p:nvSpPr>
        <p:spPr/>
        <p:txBody>
          <a:bodyPr/>
          <a:lstStyle/>
          <a:p>
            <a:r>
              <a:rPr lang="en-IN" dirty="0"/>
              <a:t>Input</a:t>
            </a:r>
          </a:p>
        </p:txBody>
      </p:sp>
      <p:sp>
        <p:nvSpPr>
          <p:cNvPr id="5" name="Text Placeholder 4">
            <a:extLst>
              <a:ext uri="{FF2B5EF4-FFF2-40B4-BE49-F238E27FC236}">
                <a16:creationId xmlns:a16="http://schemas.microsoft.com/office/drawing/2014/main" id="{29A0580D-D01C-41A7-F1DF-0B7BC4D257BA}"/>
              </a:ext>
            </a:extLst>
          </p:cNvPr>
          <p:cNvSpPr>
            <a:spLocks noGrp="1"/>
          </p:cNvSpPr>
          <p:nvPr>
            <p:ph type="body" sz="quarter" idx="3"/>
          </p:nvPr>
        </p:nvSpPr>
        <p:spPr/>
        <p:txBody>
          <a:bodyPr/>
          <a:lstStyle/>
          <a:p>
            <a:r>
              <a:rPr lang="en-IN" dirty="0"/>
              <a:t>Output</a:t>
            </a:r>
          </a:p>
        </p:txBody>
      </p:sp>
      <p:pic>
        <p:nvPicPr>
          <p:cNvPr id="11" name="Picture 10" descr="A screenshot of a computer code&#10;&#10;AI-generated content may be incorrect.">
            <a:extLst>
              <a:ext uri="{FF2B5EF4-FFF2-40B4-BE49-F238E27FC236}">
                <a16:creationId xmlns:a16="http://schemas.microsoft.com/office/drawing/2014/main" id="{616D7705-F6F2-2F84-DF23-1ABC3BD7B6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788" y="2866896"/>
            <a:ext cx="3814508" cy="3360167"/>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D268B721-422B-60D1-9595-B0FF5E1D17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3707656"/>
            <a:ext cx="3233254" cy="1478325"/>
          </a:xfrm>
          <a:prstGeom prst="rect">
            <a:avLst/>
          </a:prstGeom>
        </p:spPr>
      </p:pic>
    </p:spTree>
    <p:extLst>
      <p:ext uri="{BB962C8B-B14F-4D97-AF65-F5344CB8AC3E}">
        <p14:creationId xmlns:p14="http://schemas.microsoft.com/office/powerpoint/2010/main" val="1413929125"/>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6603D-136E-6238-F984-F6ED3EAE0FBB}"/>
            </a:ext>
          </a:extLst>
        </p:cNvPr>
        <p:cNvGrpSpPr/>
        <p:nvPr/>
      </p:nvGrpSpPr>
      <p:grpSpPr>
        <a:xfrm>
          <a:off x="0" y="0"/>
          <a:ext cx="0" cy="0"/>
          <a:chOff x="0" y="0"/>
          <a:chExt cx="0" cy="0"/>
        </a:xfrm>
      </p:grpSpPr>
      <p:sp>
        <p:nvSpPr>
          <p:cNvPr id="7" name="Rectangle 1">
            <a:extLst>
              <a:ext uri="{FF2B5EF4-FFF2-40B4-BE49-F238E27FC236}">
                <a16:creationId xmlns:a16="http://schemas.microsoft.com/office/drawing/2014/main" id="{492D4BA8-18B4-533D-24C5-08992A7B0CA5}"/>
              </a:ext>
            </a:extLst>
          </p:cNvPr>
          <p:cNvSpPr>
            <a:spLocks noGrp="1" noChangeArrowheads="1"/>
          </p:cNvSpPr>
          <p:nvPr>
            <p:ph type="title"/>
          </p:nvPr>
        </p:nvSpPr>
        <p:spPr bwMode="auto">
          <a:xfrm>
            <a:off x="181722" y="440555"/>
            <a:ext cx="11173666"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sz="2000" b="1" i="0" dirty="0">
                <a:effectLst/>
                <a:latin typeface="__Inter_d65c78"/>
              </a:rPr>
              <a:t>Ensuring Data Integrity: Trigger for Duplicate Salesperson ID Prevention</a:t>
            </a:r>
            <a:br>
              <a:rPr kumimoji="0" lang="en-US" altLang="en-US" sz="1600" b="1" i="0" u="none" strike="noStrike" cap="none" normalizeH="0" baseline="0" dirty="0">
                <a:ln>
                  <a:noFill/>
                </a:ln>
                <a:solidFill>
                  <a:schemeClr val="tx1"/>
                </a:solidFill>
                <a:effectLst/>
                <a:latin typeface="__Inter_d65c78"/>
              </a:rPr>
            </a:br>
            <a:r>
              <a:rPr kumimoji="0" lang="en-US" altLang="en-US" sz="2000" b="1" i="0" u="none" strike="noStrike" cap="none" normalizeH="0" baseline="0" dirty="0">
                <a:ln>
                  <a:noFill/>
                </a:ln>
                <a:solidFill>
                  <a:schemeClr val="tx1"/>
                </a:solidFill>
                <a:effectLst/>
                <a:latin typeface="__Inter_d65c78"/>
              </a:rPr>
              <a:t>Explanation: </a:t>
            </a:r>
            <a:r>
              <a:rPr lang="en-US" sz="1400" b="0" i="0" dirty="0">
                <a:effectLst/>
                <a:latin typeface="__Inter_d65c78"/>
              </a:rPr>
              <a:t>Creates a trigger to prevent duplicate salesperson IDs in the people table, ensuring data integrity during insertions.</a:t>
            </a:r>
            <a:endParaRPr kumimoji="0" lang="en-US" altLang="en-US" sz="1400" i="0" u="none" strike="noStrike" cap="none" normalizeH="0" baseline="0" dirty="0">
              <a:ln>
                <a:noFill/>
              </a:ln>
              <a:effectLst/>
              <a:latin typeface="__Inter_d65c78"/>
            </a:endParaRPr>
          </a:p>
        </p:txBody>
      </p:sp>
      <p:sp>
        <p:nvSpPr>
          <p:cNvPr id="3" name="Text Placeholder 2">
            <a:extLst>
              <a:ext uri="{FF2B5EF4-FFF2-40B4-BE49-F238E27FC236}">
                <a16:creationId xmlns:a16="http://schemas.microsoft.com/office/drawing/2014/main" id="{409A357D-84F5-906D-F052-75F0B9EE9537}"/>
              </a:ext>
            </a:extLst>
          </p:cNvPr>
          <p:cNvSpPr>
            <a:spLocks noGrp="1"/>
          </p:cNvSpPr>
          <p:nvPr>
            <p:ph type="body" idx="1"/>
          </p:nvPr>
        </p:nvSpPr>
        <p:spPr/>
        <p:txBody>
          <a:bodyPr/>
          <a:lstStyle/>
          <a:p>
            <a:r>
              <a:rPr lang="en-IN" dirty="0"/>
              <a:t>Input</a:t>
            </a:r>
          </a:p>
        </p:txBody>
      </p:sp>
      <p:sp>
        <p:nvSpPr>
          <p:cNvPr id="5" name="Text Placeholder 4">
            <a:extLst>
              <a:ext uri="{FF2B5EF4-FFF2-40B4-BE49-F238E27FC236}">
                <a16:creationId xmlns:a16="http://schemas.microsoft.com/office/drawing/2014/main" id="{E83BB712-AC96-8542-C4DA-8BA05D56ED1F}"/>
              </a:ext>
            </a:extLst>
          </p:cNvPr>
          <p:cNvSpPr>
            <a:spLocks noGrp="1"/>
          </p:cNvSpPr>
          <p:nvPr>
            <p:ph type="body" sz="quarter" idx="3"/>
          </p:nvPr>
        </p:nvSpPr>
        <p:spPr/>
        <p:txBody>
          <a:bodyPr/>
          <a:lstStyle/>
          <a:p>
            <a:r>
              <a:rPr lang="en-IN" dirty="0"/>
              <a:t>Output</a:t>
            </a:r>
          </a:p>
        </p:txBody>
      </p:sp>
      <p:pic>
        <p:nvPicPr>
          <p:cNvPr id="14" name="Picture 13" descr="A close up of a screen&#10;&#10;AI-generated content may be incorrect.">
            <a:extLst>
              <a:ext uri="{FF2B5EF4-FFF2-40B4-BE49-F238E27FC236}">
                <a16:creationId xmlns:a16="http://schemas.microsoft.com/office/drawing/2014/main" id="{74167BAB-5B5D-AA6B-BAB3-E68C8C847A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7648" y="4162150"/>
            <a:ext cx="3694176" cy="1196365"/>
          </a:xfrm>
          <a:prstGeom prst="rect">
            <a:avLst/>
          </a:prstGeom>
        </p:spPr>
      </p:pic>
      <p:pic>
        <p:nvPicPr>
          <p:cNvPr id="10" name="Picture 9" descr="A screen shot of a computer program&#10;&#10;AI-generated content may be incorrect.">
            <a:extLst>
              <a:ext uri="{FF2B5EF4-FFF2-40B4-BE49-F238E27FC236}">
                <a16:creationId xmlns:a16="http://schemas.microsoft.com/office/drawing/2014/main" id="{6C8F82E2-17C3-21CA-A368-8441C56EA8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788" y="2634466"/>
            <a:ext cx="4692332" cy="3629173"/>
          </a:xfrm>
          <a:prstGeom prst="rect">
            <a:avLst/>
          </a:prstGeom>
        </p:spPr>
      </p:pic>
    </p:spTree>
    <p:extLst>
      <p:ext uri="{BB962C8B-B14F-4D97-AF65-F5344CB8AC3E}">
        <p14:creationId xmlns:p14="http://schemas.microsoft.com/office/powerpoint/2010/main" val="2709882146"/>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1D6BE-CAF2-F798-DE1B-4AA47DEA53FE}"/>
              </a:ext>
            </a:extLst>
          </p:cNvPr>
          <p:cNvSpPr>
            <a:spLocks noGrp="1"/>
          </p:cNvSpPr>
          <p:nvPr>
            <p:ph type="title"/>
          </p:nvPr>
        </p:nvSpPr>
        <p:spPr>
          <a:xfrm>
            <a:off x="166548" y="355600"/>
            <a:ext cx="10515600" cy="1325563"/>
          </a:xfrm>
        </p:spPr>
        <p:txBody>
          <a:bodyPr>
            <a:normAutofit/>
          </a:bodyPr>
          <a:lstStyle/>
          <a:p>
            <a:pPr algn="l"/>
            <a:r>
              <a:rPr lang="en-US" sz="2000" b="1" i="0" dirty="0">
                <a:solidFill>
                  <a:schemeClr val="tx1"/>
                </a:solidFill>
                <a:effectLst/>
                <a:latin typeface="__Inter_d65c78"/>
              </a:rPr>
              <a:t>Comprehensive View of Products, Sales, and Geography</a:t>
            </a:r>
            <a:br>
              <a:rPr lang="en-US" sz="1100" b="1" i="0" dirty="0">
                <a:solidFill>
                  <a:srgbClr val="111827"/>
                </a:solidFill>
                <a:effectLst/>
                <a:latin typeface="__Inter_d65c78"/>
              </a:rPr>
            </a:br>
            <a:r>
              <a:rPr lang="en-US" sz="1600" b="1" i="0" dirty="0">
                <a:solidFill>
                  <a:srgbClr val="111827"/>
                </a:solidFill>
                <a:effectLst/>
                <a:latin typeface="__Inter_d65c78"/>
              </a:rPr>
              <a:t>Explanation: </a:t>
            </a:r>
            <a:r>
              <a:rPr lang="en-US" sz="1400" b="0" i="0" dirty="0">
                <a:solidFill>
                  <a:srgbClr val="374151"/>
                </a:solidFill>
                <a:effectLst/>
                <a:latin typeface="__Inter_d65c78"/>
              </a:rPr>
              <a:t>Creates a view to display detailed product and sales information, streamlining data retrieval for analysis.</a:t>
            </a:r>
            <a:endParaRPr lang="en-IN" sz="1400" b="1" dirty="0">
              <a:latin typeface="__Inter_d65c78"/>
            </a:endParaRPr>
          </a:p>
        </p:txBody>
      </p:sp>
      <p:sp>
        <p:nvSpPr>
          <p:cNvPr id="3" name="Text Placeholder 2">
            <a:extLst>
              <a:ext uri="{FF2B5EF4-FFF2-40B4-BE49-F238E27FC236}">
                <a16:creationId xmlns:a16="http://schemas.microsoft.com/office/drawing/2014/main" id="{94E0167C-79FB-7EB0-3DFB-77AB2069CEA6}"/>
              </a:ext>
            </a:extLst>
          </p:cNvPr>
          <p:cNvSpPr>
            <a:spLocks noGrp="1"/>
          </p:cNvSpPr>
          <p:nvPr>
            <p:ph type="body" idx="1"/>
          </p:nvPr>
        </p:nvSpPr>
        <p:spPr/>
        <p:txBody>
          <a:bodyPr/>
          <a:lstStyle/>
          <a:p>
            <a:r>
              <a:rPr lang="en-IN" dirty="0"/>
              <a:t>Input		</a:t>
            </a:r>
          </a:p>
        </p:txBody>
      </p:sp>
      <p:sp>
        <p:nvSpPr>
          <p:cNvPr id="5" name="Text Placeholder 4">
            <a:extLst>
              <a:ext uri="{FF2B5EF4-FFF2-40B4-BE49-F238E27FC236}">
                <a16:creationId xmlns:a16="http://schemas.microsoft.com/office/drawing/2014/main" id="{815AA738-F2F9-3B5D-8DE6-AB20A13E62FD}"/>
              </a:ext>
            </a:extLst>
          </p:cNvPr>
          <p:cNvSpPr>
            <a:spLocks noGrp="1"/>
          </p:cNvSpPr>
          <p:nvPr>
            <p:ph type="body" sz="quarter" idx="3"/>
          </p:nvPr>
        </p:nvSpPr>
        <p:spPr/>
        <p:txBody>
          <a:bodyPr/>
          <a:lstStyle/>
          <a:p>
            <a:r>
              <a:rPr lang="en-IN" dirty="0"/>
              <a:t>Output</a:t>
            </a:r>
          </a:p>
        </p:txBody>
      </p:sp>
      <p:pic>
        <p:nvPicPr>
          <p:cNvPr id="8" name="Picture 7" descr="A screenshot of a computer program&#10;&#10;AI-generated content may be incorrect.">
            <a:extLst>
              <a:ext uri="{FF2B5EF4-FFF2-40B4-BE49-F238E27FC236}">
                <a16:creationId xmlns:a16="http://schemas.microsoft.com/office/drawing/2014/main" id="{BAF63AB4-7FA3-FC33-29BD-A3D2B4438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788" y="3076956"/>
            <a:ext cx="4370964" cy="2724912"/>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33966D4D-1DAA-3E63-E8AD-7356818F74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1" y="3006726"/>
            <a:ext cx="5974080" cy="2795142"/>
          </a:xfrm>
          <a:prstGeom prst="rect">
            <a:avLst/>
          </a:prstGeom>
        </p:spPr>
      </p:pic>
    </p:spTree>
    <p:extLst>
      <p:ext uri="{BB962C8B-B14F-4D97-AF65-F5344CB8AC3E}">
        <p14:creationId xmlns:p14="http://schemas.microsoft.com/office/powerpoint/2010/main" val="4106190709"/>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584344D-22F0-E387-431D-FB1A55B497C4}"/>
              </a:ext>
            </a:extLst>
          </p:cNvPr>
          <p:cNvSpPr>
            <a:spLocks noGrp="1"/>
          </p:cNvSpPr>
          <p:nvPr>
            <p:ph type="title"/>
          </p:nvPr>
        </p:nvSpPr>
        <p:spPr>
          <a:xfrm>
            <a:off x="4381081" y="978776"/>
            <a:ext cx="6989725" cy="1174991"/>
          </a:xfrm>
        </p:spPr>
        <p:txBody>
          <a:bodyPr vert="horz" lIns="182880" tIns="182880" rIns="182880" bIns="182880" rtlCol="0" anchor="ctr" anchorCtr="1">
            <a:normAutofit/>
          </a:bodyPr>
          <a:lstStyle/>
          <a:p>
            <a:r>
              <a:rPr lang="en-US" sz="2400"/>
              <a:t>Conclusion</a:t>
            </a:r>
          </a:p>
        </p:txBody>
      </p:sp>
      <p:pic>
        <p:nvPicPr>
          <p:cNvPr id="16" name="Picture 15" descr="Digital financial graph">
            <a:extLst>
              <a:ext uri="{FF2B5EF4-FFF2-40B4-BE49-F238E27FC236}">
                <a16:creationId xmlns:a16="http://schemas.microsoft.com/office/drawing/2014/main" id="{353A65DF-3020-4308-7F70-ED17D88C201C}"/>
              </a:ext>
            </a:extLst>
          </p:cNvPr>
          <p:cNvPicPr>
            <a:picLocks noChangeAspect="1"/>
          </p:cNvPicPr>
          <p:nvPr/>
        </p:nvPicPr>
        <p:blipFill>
          <a:blip r:embed="rId2"/>
          <a:srcRect l="38543" r="23257"/>
          <a:stretch/>
        </p:blipFill>
        <p:spPr>
          <a:xfrm>
            <a:off x="20" y="10"/>
            <a:ext cx="3979127" cy="6857990"/>
          </a:xfrm>
          <a:prstGeom prst="rect">
            <a:avLst/>
          </a:prstGeom>
        </p:spPr>
      </p:pic>
      <p:sp>
        <p:nvSpPr>
          <p:cNvPr id="10" name="TextBox 9">
            <a:extLst>
              <a:ext uri="{FF2B5EF4-FFF2-40B4-BE49-F238E27FC236}">
                <a16:creationId xmlns:a16="http://schemas.microsoft.com/office/drawing/2014/main" id="{6DC711C1-2817-0859-DD38-A3A02F51CBD9}"/>
              </a:ext>
            </a:extLst>
          </p:cNvPr>
          <p:cNvSpPr txBox="1"/>
          <p:nvPr/>
        </p:nvSpPr>
        <p:spPr>
          <a:xfrm>
            <a:off x="4381081" y="2640692"/>
            <a:ext cx="6989725" cy="3255252"/>
          </a:xfrm>
          <a:prstGeom prst="rect">
            <a:avLst/>
          </a:prstGeom>
        </p:spPr>
        <p:txBody>
          <a:bodyPr vert="horz" lIns="91440" tIns="45720" rIns="91440" bIns="45720" rtlCol="0">
            <a:normAutofit/>
          </a:bodyPr>
          <a:lstStyle/>
          <a:p>
            <a:pPr defTabSz="914400">
              <a:spcBef>
                <a:spcPts val="1000"/>
              </a:spcBef>
              <a:buClr>
                <a:schemeClr val="accent2"/>
              </a:buClr>
            </a:pPr>
            <a:r>
              <a:rPr lang="en-US" sz="2000" b="0" i="0" dirty="0">
                <a:solidFill>
                  <a:schemeClr val="tx1">
                    <a:lumMod val="85000"/>
                    <a:lumOff val="15000"/>
                  </a:schemeClr>
                </a:solidFill>
                <a:effectLst/>
                <a:latin typeface="__Inter_d65c78"/>
              </a:rPr>
              <a:t>In this project, I utilized SQL to manage and analyze sales data through key features such as joins for comprehensive reporting, stored procedures for inserting new salespersons, and functions to calculate average sales by region. Additionally, I implemented triggers to ensure data integrity by preventing duplicate entries. This approach demonstrated my ability to leverage database functionalities to drive informed business decisions and enhance operational efficiency.</a:t>
            </a:r>
            <a:endParaRPr lang="en-US" sz="2000" dirty="0">
              <a:solidFill>
                <a:schemeClr val="tx1">
                  <a:lumMod val="85000"/>
                  <a:lumOff val="15000"/>
                </a:schemeClr>
              </a:solidFill>
              <a:latin typeface="__Inter_d65c78"/>
            </a:endParaRPr>
          </a:p>
        </p:txBody>
      </p:sp>
    </p:spTree>
    <p:extLst>
      <p:ext uri="{BB962C8B-B14F-4D97-AF65-F5344CB8AC3E}">
        <p14:creationId xmlns:p14="http://schemas.microsoft.com/office/powerpoint/2010/main" val="283764242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C7FF834-B204-4967-8D47-8BB36EAF0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780A22D-61EA-43E3-BD94-3E39CF902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69AD0E-D710-C3F1-956C-B6E3236BED1E}"/>
              </a:ext>
            </a:extLst>
          </p:cNvPr>
          <p:cNvSpPr>
            <a:spLocks noGrp="1"/>
          </p:cNvSpPr>
          <p:nvPr>
            <p:ph type="title"/>
          </p:nvPr>
        </p:nvSpPr>
        <p:spPr>
          <a:xfrm>
            <a:off x="1600200" y="4269282"/>
            <a:ext cx="8991600" cy="1264762"/>
          </a:xfrm>
        </p:spPr>
        <p:txBody>
          <a:bodyPr vert="horz" lIns="274320" tIns="182880" rIns="274320" bIns="182880" rtlCol="0" anchor="ctr" anchorCtr="1">
            <a:normAutofit/>
          </a:bodyPr>
          <a:lstStyle/>
          <a:p>
            <a:r>
              <a:rPr lang="en-US" sz="3200"/>
              <a:t>Thank you</a:t>
            </a:r>
          </a:p>
        </p:txBody>
      </p:sp>
      <p:pic>
        <p:nvPicPr>
          <p:cNvPr id="6" name="Graphic 5" descr="Handshake">
            <a:extLst>
              <a:ext uri="{FF2B5EF4-FFF2-40B4-BE49-F238E27FC236}">
                <a16:creationId xmlns:a16="http://schemas.microsoft.com/office/drawing/2014/main" id="{5893E30B-4CDB-F853-603F-172F3FA8052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45346" y="640078"/>
            <a:ext cx="3301307" cy="3301307"/>
          </a:xfrm>
          <a:prstGeom prst="rect">
            <a:avLst/>
          </a:prstGeom>
        </p:spPr>
      </p:pic>
    </p:spTree>
    <p:extLst>
      <p:ext uri="{BB962C8B-B14F-4D97-AF65-F5344CB8AC3E}">
        <p14:creationId xmlns:p14="http://schemas.microsoft.com/office/powerpoint/2010/main" val="402962926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5E3DAAF-E47F-4DC4-A08F-ACAEB2D52588}">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Parcel</Template>
  <TotalTime>778</TotalTime>
  <Words>552</Words>
  <Application>Microsoft Office PowerPoint</Application>
  <PresentationFormat>Widescreen</PresentationFormat>
  <Paragraphs>59</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__Inter_d65c78</vt:lpstr>
      <vt:lpstr>Amasis MT Pro</vt:lpstr>
      <vt:lpstr>Arial</vt:lpstr>
      <vt:lpstr>Gill Sans MT</vt:lpstr>
      <vt:lpstr>Parcel</vt:lpstr>
      <vt:lpstr>Sales and Product Management System</vt:lpstr>
      <vt:lpstr>Project Objectives</vt:lpstr>
      <vt:lpstr>Database Structure</vt:lpstr>
      <vt:lpstr>Ensuring Data Integrity: Column Modifications for clarity: Explanation: Renames "Geo" column to "Country" in the "geo" table.</vt:lpstr>
      <vt:lpstr>Modifying the Region column in the geo table to disallow NULL values, ensuring all records have valid data.</vt:lpstr>
      <vt:lpstr>Aggregate Analysis of Sales and Boxes Sold by Product Category</vt:lpstr>
      <vt:lpstr>Targeted Analysis of Sales Records by Salesperson Explanation: Retrieves sales records for specified salespersons using the IN operator.</vt:lpstr>
      <vt:lpstr>Filtering of CATEGORIES Products by USING NAMES WITH WILDcard OPERATOR: EXPLANATION: Retrieves PRODUCTS whose CATEGOTY names start with ‘B' using the LIKE operator. </vt:lpstr>
      <vt:lpstr>Identifying High-Value Sales Transactions Explanation:Retrieves the top 10 sales records ordered by amount using the LIMIT clause.</vt:lpstr>
      <vt:lpstr>TOTAL Salesperson Count by Team: Explanation: This query calculates total number of salespersons in each team from the ‘people’ table</vt:lpstr>
      <vt:lpstr>Identifying High-Performing Products by Sales Volume Explanation:Filters products with total sales greater than $20,000 using GROUP BY and HAVING clauses.</vt:lpstr>
      <vt:lpstr>Finding the product with the highest cost per box. Explanation:query retrieves the record of product having highest cost_per_box</vt:lpstr>
      <vt:lpstr>Retrieving sales records for the salesperson "Barr Faughny" in the "BARS" category, ordered by sales amount</vt:lpstr>
      <vt:lpstr>Streamlined Data Entry: Adding a New Salesperson via Stored Procedure Explanation: Creates a stored procedure to insert a new salesperson into the "people" table, enhancing data management efficiency.</vt:lpstr>
      <vt:lpstr>Efficient Data Analysis: Average Sales Calculation by Region by creating a stored function Explanation: Defines a function to calculate average sales for a given region, improving data analysis efficiency.</vt:lpstr>
      <vt:lpstr>Ensuring Data Integrity: Trigger for Duplicate Salesperson ID Prevention Explanation: Creates a trigger to prevent duplicate salesperson IDs in the people table, ensuring data integrity during insertions.</vt:lpstr>
      <vt:lpstr>Comprehensive View of Products, Sales, and Geography Explanation: Creates a view to display detailed product and sales information, streamlining data retrieval for analysis.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masalapaneer01</dc:creator>
  <cp:lastModifiedBy>masalapaneer01</cp:lastModifiedBy>
  <cp:revision>96</cp:revision>
  <dcterms:created xsi:type="dcterms:W3CDTF">2025-04-04T08:00:33Z</dcterms:created>
  <dcterms:modified xsi:type="dcterms:W3CDTF">2025-04-17T03:33:56Z</dcterms:modified>
</cp:coreProperties>
</file>